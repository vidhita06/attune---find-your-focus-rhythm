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A"/>
                </a:solidFill>
                <a:latin typeface="Calibri"/>
              </a:defRPr>
            </a:pPr>
            <a:r>
              <a:rPr sz="1200" b="0" i="0" u="none" strike="noStrike">
                <a:solidFill>
                  <a:srgbClr val="1B2A4A"/>
                </a:solidFill>
                <a:latin typeface="Calibri"/>
              </a:rPr>
              <a:t>Importance head, test split (n=613)</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233E7A"/>
            </a:solidFill>
            <a:effectLst/>
          </c:spPr>
          <c:invertIfNegative val="0"/>
          <c:dLbls>
            <c:numFmt formatCode="0.00" sourceLinked="0"/>
            <c:txPr>
              <a:bodyPr/>
              <a:lstStyle/>
              <a:p>
                <a:pPr>
                  <a:defRPr b="0" i="0" strike="noStrike" sz="900" u="none">
                    <a:solidFill>
                      <a:srgbClr val="1B2A4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Sheet1!$B$2:$B$4</c:f>
              <c:numCache>
                <c:formatCode>General</c:formatCode>
                <c:ptCount val="3"/>
                <c:pt idx="0">
                  <c:v>0.79</c:v>
                </c:pt>
                <c:pt idx="1">
                  <c:v>0.874</c:v>
                </c:pt>
                <c:pt idx="2">
                  <c:v>0.816</c:v>
                </c:pt>
              </c:numCache>
            </c:numRef>
          </c:val>
        </c:ser>
        <c:ser>
          <c:idx val="1"/>
          <c:order val="1"/>
          <c:tx>
            <c:strRef>
              <c:f>Sheet1!$C$1</c:f>
              <c:strCache>
                <c:ptCount val="1"/>
                <c:pt idx="0">
                  <c:v>Recall</c:v>
                </c:pt>
              </c:strCache>
            </c:strRef>
          </c:tx>
          <c:spPr>
            <a:solidFill>
              <a:srgbClr val="6B5FC7"/>
            </a:solidFill>
            <a:effectLst/>
          </c:spPr>
          <c:invertIfNegative val="0"/>
          <c:dLbls>
            <c:numFmt formatCode="0.00" sourceLinked="0"/>
            <c:txPr>
              <a:bodyPr/>
              <a:lstStyle/>
              <a:p>
                <a:pPr>
                  <a:defRPr b="0" i="0" strike="noStrike" sz="900" u="none">
                    <a:solidFill>
                      <a:srgbClr val="1B2A4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Sheet1!$C$2:$C$4</c:f>
              <c:numCache>
                <c:formatCode>General</c:formatCode>
                <c:ptCount val="3"/>
                <c:pt idx="0">
                  <c:v>0.951</c:v>
                </c:pt>
                <c:pt idx="1">
                  <c:v>0.796</c:v>
                </c:pt>
                <c:pt idx="2">
                  <c:v>0.559</c:v>
                </c:pt>
              </c:numCache>
            </c:numRef>
          </c:val>
        </c:ser>
        <c:ser>
          <c:idx val="2"/>
          <c:order val="2"/>
          <c:tx>
            <c:strRef>
              <c:f>Sheet1!$D$1</c:f>
              <c:strCache>
                <c:ptCount val="1"/>
                <c:pt idx="0">
                  <c:v>F1</c:v>
                </c:pt>
              </c:strCache>
            </c:strRef>
          </c:tx>
          <c:spPr>
            <a:solidFill>
              <a:srgbClr val="1A9C94"/>
            </a:solidFill>
            <a:effectLst/>
          </c:spPr>
          <c:invertIfNegative val="0"/>
          <c:dLbls>
            <c:numFmt formatCode="0.00" sourceLinked="0"/>
            <c:txPr>
              <a:bodyPr/>
              <a:lstStyle/>
              <a:p>
                <a:pPr>
                  <a:defRPr b="0" i="0" strike="noStrike" sz="900" u="none">
                    <a:solidFill>
                      <a:srgbClr val="1B2A4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Sheet1!$D$2:$D$4</c:f>
              <c:numCache>
                <c:formatCode>General</c:formatCode>
                <c:ptCount val="3"/>
                <c:pt idx="0">
                  <c:v>0.863</c:v>
                </c:pt>
                <c:pt idx="1">
                  <c:v>0.833</c:v>
                </c:pt>
                <c:pt idx="2">
                  <c:v>0.664</c:v>
                </c:pt>
              </c:numCache>
            </c:numRef>
          </c:val>
        </c:ser>
        <c:dLbls>
          <c:numFmt formatCode="0.00" sourceLinked="0"/>
          <c:txPr>
            <a:bodyPr/>
            <a:lstStyle/>
            <a:p>
              <a:pPr>
                <a:defRPr b="0" i="0" strike="noStrike" sz="900" u="none">
                  <a:solidFill>
                    <a:srgbClr val="1B2A4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488"/>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7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48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48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Team and institution details were not found anywhere in the repository (git user name only), so they are intentionally left as placeholders. Fill them in before presenting.
Source: repository audit, docs/project-knowledge/PROGRESS.md.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framing. The general claim that interruptions hurt concentration is background motivation; the repository contains no study or citation for it, so no statistics are quoted here. The specific problem Attune targets is in the right-hand box and is what the code implements.
Likely question: why not just use Do Not Disturb? Answer: DND is all-or-nothing; Attune tries to keep urgent/important items visible. Attune does not change DND (docs/NOTIFICATION_ROUTING_FIX.md says this was assessed and not implemented).
Sources: docs/AI_MODE_AND_ARCHITECTURE.md, docs/DECISION_POLICY.md.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 in one line: a privacy-first, fully on-device pipeline that combines a small classifier, explicit safety rules and user feedback, and that prefers REVIEW over silent HOLD when unsure.
Everything on the slide is implemented in code (VERIFIED by inspection); effectiveness on real notifications is UNKNOWN because the model was trained and evaluated on synthetic data only, and no phone test is recorded.
Sources: docs/DECISION_POLICY.md, ml/README.md, app/src/main/AndroidManifest.xml.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Gradle modules (settings.gradle.kts): :app (listener, repositories, Compose UI, Hilt), :core-model (Room database v4, entities, DAOs, migrations) and :prediction (pure Kotlin classifier, safety rules, link analyzer, decision engine, personalization).
The offline pipeline (Python in ml/) is NOT part of the app. It produces attune_text_model.json, which is copied to app/src/main/assets/models and run in plain Kotlin. The two copies were verified byte-identical.
The app declares no INTERNET permission in AndroidManifest.xml and contains no network code (docs/DATA_AND_PRIVACY.md); this was checked in the manifest only.
Android shows the notification before the listener sees it: classification is not the same as suppression.
Sources: settings.gradle.kts, AndroidManifest.xml, docs/AI_MODE_AND_ARCHITECTURE.md.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left to right, top to bottom. Source: NotificationProcessor.process (app/.../capture/NotificationProcessor.kt) and NotificationDecisionEngine.decide.
Row 1: own-app, ongoing and group-summary notifications are ignored; outside a FOCUS session nothing is held (paused/break = allow).
Row 2: the engine applies, in order, user allow rules, safety rules (OTP, security, emergency, repeated missed calls), user hold rules, then the model plus RiskPolicy (AI Mode on) or category rules (AI Mode off or model missing/failed), then a guard layer that turns risky HOLDs into REVIEW.
Row 3: ALLOW touches nothing. REVIEW is saved to the queue and left visible. HOLD is saved to Room first; only then is cancelNotification(key) called, and the item is marked suppressed only when Android reports the removal. If removal is skipped, fails or is unconfirmed the queue item is flagged as still visible.
This is the logic as coded and unit-tested (NotificationProcessorTest). It has NOT been verified on a physical phone, and Android may already have shown the alert before the listener reacts, so suppression is best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names: the app/UI calls them ALLOW, HOLD and REVIEW; in code they are Routing.DELIVER, Routing.DEFER / Routing.FILTER and Routing.REVIEW, plus Routing.IGNORE for notifications Attune does not process.
Privacy facts (docs/DATA_AND_PRIVACY.md): the decision log never stores text; sensitive items (OTP, security, money) store no title or preview; queue items keep title and preview until 24 h after the focus session ended (7 day backstop). In-memory only: burst counters and listener diagnostics.
The privacy behaviour is covered by PrivacyTest and MigrationTest at unit level; end-to-end deletion/retention on a device has not been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wording: 'Implemented in code' means the code and, where noted, unit tests exist (VERIFIED by inspection). No screen was run on a device or emulator during this audit, so UI behaviour is UNTESTED. Demo mode (isDemo rows, DEMO badges) exists so the app can be shown without real notifications; demo data is never used for training.
Tabs in AttuneNavHost.kt: Home, Focus, Queue, Insights, Profile. Extra routes: ai, privacy, learned, session/{id}, prediction/{id}, feedback/{id}, rules, access, onboarding.
Sources: AttuneNavHost.kt, docs/HUMAN_TASKS.md, docs/UPGRADE_CHECKLIST.md.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screenshots exist in the repository, and the app was not run during this audit, so these are labelled placeholders rather than invented UI. Replace each with a real capture from a device or emulator (Android Studio: Logcat/Device Manager screenshot).
Screens listed come from AttuneNavHost.kt. Suggested capture order: onboarding / access guide, Home with a running session, Focus, Queue with HOLD and REVIEW items, Before You Open (prediction/{id}) showing the explanation, AI Mode, Insights report, Profile, Privacy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below were measured on the HELD-OUT TEST SPLIT of a SYNTHETIC, template-generated, author-annotated dataset. They do not show real-world accuracy.
Dataset counts were re-counted from ml/data/notifications.csv in this audit (VERIFIED): 3,105 rows, 266 templates, train 1,978 / validation 514 / test 613, split by template. Language: 2,858 English, 247 Hinglish. Importance: low 1,511 / medium 909 / high 685.
Model: four L2 logistic-regression heads (importance 3-class softmax; urgency, distraction, action sigmoid), features: word 1-2 grams, char trigrams, sender-title words, app category, meta flags; C chosen per head on validation macro-F1; temperature scaling; routing thresholds chosen on validation. 3,268 features, model file 202,628 bytes. Only logistic regression was trained; no tree/boosting models appear in train.py or the reports.
Metric status: HISTORICAL (ml/reports/evaluation.json, generated 2026-10-26 03:53, not re-run in this audit). The deployed-engine routing report is generated by RoutingEvaluationTest.
Why accuracy alone is not enough: the cost of holding an important message is far larger than letting a distraction through, so the key metrics are false-HOLD of important/urgent messages and the share of ambiguous messages silently held.
Known weakness: importance 'high' recall is only 0.56; the policy compensates by sending uncertain items to REVIEW. Links: routing accuracy 0.53 on messages with links (ml/README.md).
Likely question: why logistic regression? Evidence in repo: ml/README.md says TFLite was not in the offline build cache and a JSON linear model is smaller and simpler. No comparison experiment against other model families is recorded, so 'best model' cannot be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Searched docs/, ml/, the source tree and the git log for evaluator, judge, mentor or faculty feedback: none was found. Nothing on this slide is a quotation. The table is a template; fill the first column with the original wording and the status column honestly.
The repo does record design changes (docs/UPGRADE_CHECKLIST.md, docs/NOTIFICATION_ROUTING_FIX.md) but does not say they responded to any evaluator, so they are not attributed to one.
If asked: 'what did reviewers say?' answer from your own records, not from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in this audit. Stored build outputs (not re-run): app debug unit tests 53 run / 0 failed; prediction 98 run / 1 failed. Fresh run this session: ./gradlew --offline :prediction:test --tests '*DecisionEngineTest.unsureButDistractingLowValueAppsAreHeld' -&gt; 1 test, 1 failed (expected DEFER, actual REVIEW). The cause was not investigated; do not claim all tests pass. core-model has 6 migration tests; stored result 6 run, 0 failed.
No UI tests, no emulator tests, no physical-device tests are recorded; docs/NOTIFICATION_ROUTING_FIX.md marks its device checklists NOT TESTED. Therefore real-time suppression on a phone is UNVERIFIED.
Limitations: synthetic data; English and romanised Hinglish only; linear model; Android may show the alert before the listener cancels; OEM differences; high-importance recall 0.56.
Future scope (proposed, PLANNED not implemented): collect consented real labelled data, device test matrix, fix/resolve the failing test, retrain and compare other models, optional Do Not Disturb integration (assessed, not implemented), more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is real and what is not. Claims to avoid: 'guaranteed suppression', 'real-world accuracy', 'best model'.
Questions you cannot yet answer: real-device behaviour, performance on real notifications, evaluator feedback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rgbClr val="6B7488"/>
                </a:solidFill>
              </a:rPr>
              <a:t>Attune: Find Your Focus Rhythm</a:t>
            </a:r>
            <a:endParaRPr lang="en-US" sz="10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7863840" cy="82296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Attune</a:t>
            </a:r>
            <a:endParaRPr lang="en-US" sz="5400" dirty="0"/>
          </a:p>
        </p:txBody>
      </p:sp>
      <p:sp>
        <p:nvSpPr>
          <p:cNvPr id="3" name="Text 1"/>
          <p:cNvSpPr txBox="1"/>
          <p:nvPr/>
        </p:nvSpPr>
        <p:spPr>
          <a:xfrm>
            <a:off x="640080" y="1920240"/>
            <a:ext cx="7863840" cy="548640"/>
          </a:xfrm>
          <a:prstGeom prst="rect">
            <a:avLst/>
          </a:prstGeom>
          <a:noFill/>
          <a:ln/>
        </p:spPr>
        <p:txBody>
          <a:bodyPr wrap="square" lIns="0" tIns="0" rIns="0" bIns="0" rtlCol="0" anchor="ctr"/>
          <a:lstStyle/>
          <a:p>
            <a:pPr indent="0" marL="0">
              <a:buNone/>
            </a:pPr>
            <a:r>
              <a:rPr lang="en-US" sz="2800" dirty="0">
                <a:solidFill>
                  <a:srgbClr val="B9C2F2"/>
                </a:solidFill>
                <a:latin typeface="Cambria" pitchFamily="34" charset="0"/>
                <a:ea typeface="Cambria" pitchFamily="34" charset="-122"/>
                <a:cs typeface="Cambria" pitchFamily="34" charset="-120"/>
              </a:rPr>
              <a:t>Find Your Focus Rhythm</a:t>
            </a:r>
            <a:endParaRPr lang="en-US" sz="2800" dirty="0"/>
          </a:p>
        </p:txBody>
      </p:sp>
      <p:sp>
        <p:nvSpPr>
          <p:cNvPr id="4" name="Text 2"/>
          <p:cNvSpPr txBox="1"/>
          <p:nvPr/>
        </p:nvSpPr>
        <p:spPr>
          <a:xfrm>
            <a:off x="640080" y="2743200"/>
            <a:ext cx="6949440" cy="822960"/>
          </a:xfrm>
          <a:prstGeom prst="rect">
            <a:avLst/>
          </a:prstGeom>
          <a:noFill/>
          <a:ln/>
        </p:spPr>
        <p:txBody>
          <a:bodyPr wrap="square" lIns="0" tIns="0" rIns="0" bIns="0" rtlCol="0" anchor="ctr"/>
          <a:lstStyle/>
          <a:p>
            <a:pPr indent="0" marL="0">
              <a:buNone/>
            </a:pPr>
            <a:r>
              <a:rPr lang="en-US" sz="1600" dirty="0">
                <a:solidFill>
                  <a:srgbClr val="DCE1F5"/>
                </a:solidFill>
                <a:latin typeface="Calibri" pitchFamily="34" charset="0"/>
                <a:ea typeface="Calibri" pitchFamily="34" charset="-122"/>
                <a:cs typeface="Calibri" pitchFamily="34" charset="-120"/>
              </a:rPr>
              <a:t>An Android app that decides which notifications can wait during a focus session, using on-device machine learning, safety rules and your feedback.</a:t>
            </a:r>
            <a:endParaRPr lang="en-US" sz="1600" dirty="0"/>
          </a:p>
        </p:txBody>
      </p:sp>
      <p:sp>
        <p:nvSpPr>
          <p:cNvPr id="5" name="Text 3"/>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200" dirty="0">
                <a:solidFill>
                  <a:srgbClr val="9FA9D6"/>
                </a:solidFill>
                <a:latin typeface="Calibri" pitchFamily="34" charset="0"/>
                <a:ea typeface="Calibri" pitchFamily="34" charset="-122"/>
                <a:cs typeface="Calibri" pitchFamily="34" charset="-120"/>
              </a:rPr>
              <a:t>Team members: [to be added]    Institution / course / guide: [to be added]</a:t>
            </a:r>
            <a:endParaRPr lang="en-US" sz="1200" dirty="0"/>
          </a:p>
          <a:p>
            <a:pPr indent="0" marL="0">
              <a:buNone/>
            </a:pPr>
            <a:r>
              <a:rPr lang="en-US" sz="1200" dirty="0">
                <a:solidFill>
                  <a:srgbClr val="9FA9D6"/>
                </a:solidFill>
                <a:latin typeface="Calibri" pitchFamily="34" charset="0"/>
                <a:ea typeface="Calibri" pitchFamily="34" charset="-122"/>
                <a:cs typeface="Calibri" pitchFamily="34" charset="-120"/>
              </a:rPr>
              <a:t>Not found in the repository, so left blank on purpose.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The problem: notifications break focus</a:t>
            </a:r>
            <a:endParaRPr lang="en-US" sz="2800" dirty="0"/>
          </a:p>
        </p:txBody>
      </p:sp>
      <p:sp>
        <p:nvSpPr>
          <p:cNvPr id="4" name="Num1"/>
          <p:cNvSpPr/>
          <p:nvPr/>
        </p:nvSpPr>
        <p:spPr>
          <a:xfrm>
            <a:off x="457200" y="1143000"/>
            <a:ext cx="457200" cy="457200"/>
          </a:xfrm>
          <a:prstGeom prst="ellipse">
            <a:avLst/>
          </a:prstGeom>
          <a:solidFill>
            <a:schemeClr val="accent2"/>
          </a:solidFill>
          <a:ln w="12700">
            <a:solidFill>
              <a:schemeClr val="accent2"/>
            </a:solidFill>
            <a:prstDash val="solid"/>
          </a:ln>
        </p:spPr>
      </p:sp>
      <p:sp>
        <p:nvSpPr>
          <p:cNvPr id="5" name="Text 2"/>
          <p:cNvSpPr txBox="1"/>
          <p:nvPr/>
        </p:nvSpPr>
        <p:spPr>
          <a:xfrm>
            <a:off x="457200" y="1143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Text 3"/>
          <p:cNvSpPr txBox="1"/>
          <p:nvPr/>
        </p:nvSpPr>
        <p:spPr>
          <a:xfrm>
            <a:off x="1097280" y="1097280"/>
            <a:ext cx="3840480" cy="365760"/>
          </a:xfrm>
          <a:prstGeom prst="rect">
            <a:avLst/>
          </a:prstGeom>
          <a:noFill/>
          <a:ln/>
        </p:spPr>
        <p:txBody>
          <a:bodyPr wrap="square" lIns="635" tIns="635" rIns="635" bIns="635"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Constant interruptions</a:t>
            </a:r>
            <a:endParaRPr lang="en-US" sz="1800" dirty="0"/>
          </a:p>
        </p:txBody>
      </p:sp>
      <p:sp>
        <p:nvSpPr>
          <p:cNvPr id="7" name="Text 4"/>
          <p:cNvSpPr txBox="1"/>
          <p:nvPr/>
        </p:nvSpPr>
        <p:spPr>
          <a:xfrm>
            <a:off x="1097280" y="1481328"/>
            <a:ext cx="3931920" cy="731520"/>
          </a:xfrm>
          <a:prstGeom prst="rect">
            <a:avLst/>
          </a:prstGeom>
          <a:noFill/>
          <a:ln/>
        </p:spPr>
        <p:txBody>
          <a:bodyPr wrap="square" lIns="635" tIns="635" rIns="635" bIns="635" rtlCol="0" anchor="t"/>
          <a:lstStyle/>
          <a:p>
            <a:pPr indent="0" marL="0">
              <a:buNone/>
            </a:pPr>
            <a:r>
              <a:rPr lang="en-US" sz="1400" dirty="0">
                <a:solidFill>
                  <a:schemeClr val="tx1"/>
                </a:solidFill>
                <a:latin typeface="Calibri" pitchFamily="34" charset="0"/>
                <a:ea typeface="Calibri" pitchFamily="34" charset="-122"/>
                <a:cs typeface="Calibri" pitchFamily="34" charset="-120"/>
              </a:rPr>
              <a:t>Chat, social, promo and video notifications arrive during study or work.</a:t>
            </a:r>
            <a:endParaRPr lang="en-US" sz="1400" dirty="0"/>
          </a:p>
        </p:txBody>
      </p:sp>
      <p:sp>
        <p:nvSpPr>
          <p:cNvPr id="8" name="Num2"/>
          <p:cNvSpPr/>
          <p:nvPr/>
        </p:nvSpPr>
        <p:spPr>
          <a:xfrm>
            <a:off x="457200" y="2286000"/>
            <a:ext cx="457200" cy="457200"/>
          </a:xfrm>
          <a:prstGeom prst="ellipse">
            <a:avLst/>
          </a:prstGeom>
          <a:solidFill>
            <a:schemeClr val="accent2"/>
          </a:solidFill>
          <a:ln w="12700">
            <a:solidFill>
              <a:schemeClr val="accent2"/>
            </a:solidFill>
            <a:prstDash val="solid"/>
          </a:ln>
        </p:spPr>
      </p:sp>
      <p:sp>
        <p:nvSpPr>
          <p:cNvPr id="9" name="Text 6"/>
          <p:cNvSpPr txBox="1"/>
          <p:nvPr/>
        </p:nvSpPr>
        <p:spPr>
          <a:xfrm>
            <a:off x="457200"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097280" y="2240280"/>
            <a:ext cx="3840480" cy="365760"/>
          </a:xfrm>
          <a:prstGeom prst="rect">
            <a:avLst/>
          </a:prstGeom>
          <a:noFill/>
          <a:ln/>
        </p:spPr>
        <p:txBody>
          <a:bodyPr wrap="square" lIns="635" tIns="635" rIns="635" bIns="635"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Muting is all-or-nothing</a:t>
            </a:r>
            <a:endParaRPr lang="en-US" sz="1800" dirty="0"/>
          </a:p>
        </p:txBody>
      </p:sp>
      <p:sp>
        <p:nvSpPr>
          <p:cNvPr id="11" name="Text 8"/>
          <p:cNvSpPr txBox="1"/>
          <p:nvPr/>
        </p:nvSpPr>
        <p:spPr>
          <a:xfrm>
            <a:off x="1097280" y="2624328"/>
            <a:ext cx="3931920" cy="731520"/>
          </a:xfrm>
          <a:prstGeom prst="rect">
            <a:avLst/>
          </a:prstGeom>
          <a:noFill/>
          <a:ln/>
        </p:spPr>
        <p:txBody>
          <a:bodyPr wrap="square" lIns="635" tIns="635" rIns="635" bIns="635" rtlCol="0" anchor="t"/>
          <a:lstStyle/>
          <a:p>
            <a:pPr indent="0" marL="0">
              <a:buNone/>
            </a:pPr>
            <a:r>
              <a:rPr lang="en-US" sz="1400" dirty="0">
                <a:solidFill>
                  <a:schemeClr val="tx1"/>
                </a:solidFill>
                <a:latin typeface="Calibri" pitchFamily="34" charset="0"/>
                <a:ea typeface="Calibri" pitchFamily="34" charset="-122"/>
                <a:cs typeface="Calibri" pitchFamily="34" charset="-120"/>
              </a:rPr>
              <a:t>Silencing everything risks missing an OTP, a deadline or an urgent call.</a:t>
            </a:r>
            <a:endParaRPr lang="en-US" sz="1400" dirty="0"/>
          </a:p>
        </p:txBody>
      </p:sp>
      <p:sp>
        <p:nvSpPr>
          <p:cNvPr id="12" name="Num3"/>
          <p:cNvSpPr/>
          <p:nvPr/>
        </p:nvSpPr>
        <p:spPr>
          <a:xfrm>
            <a:off x="457200" y="3429000"/>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457200" y="3429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4" name="Text 11"/>
          <p:cNvSpPr txBox="1"/>
          <p:nvPr/>
        </p:nvSpPr>
        <p:spPr>
          <a:xfrm>
            <a:off x="1097280" y="3383280"/>
            <a:ext cx="3840480" cy="365760"/>
          </a:xfrm>
          <a:prstGeom prst="rect">
            <a:avLst/>
          </a:prstGeom>
          <a:noFill/>
          <a:ln/>
        </p:spPr>
        <p:txBody>
          <a:bodyPr wrap="square" lIns="635" tIns="635" rIns="635" bIns="635"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Re-entry cost</a:t>
            </a:r>
            <a:endParaRPr lang="en-US" sz="1800" dirty="0"/>
          </a:p>
        </p:txBody>
      </p:sp>
      <p:sp>
        <p:nvSpPr>
          <p:cNvPr id="15" name="Text 12"/>
          <p:cNvSpPr txBox="1"/>
          <p:nvPr/>
        </p:nvSpPr>
        <p:spPr>
          <a:xfrm>
            <a:off x="1097280" y="3767328"/>
            <a:ext cx="3931920" cy="731520"/>
          </a:xfrm>
          <a:prstGeom prst="rect">
            <a:avLst/>
          </a:prstGeom>
          <a:noFill/>
          <a:ln/>
        </p:spPr>
        <p:txBody>
          <a:bodyPr wrap="square" lIns="635" tIns="635" rIns="635" bIns="635" rtlCol="0" anchor="t"/>
          <a:lstStyle/>
          <a:p>
            <a:pPr indent="0" marL="0">
              <a:buNone/>
            </a:pPr>
            <a:r>
              <a:rPr lang="en-US" sz="1400" dirty="0">
                <a:solidFill>
                  <a:schemeClr val="tx1"/>
                </a:solidFill>
                <a:latin typeface="Calibri" pitchFamily="34" charset="0"/>
                <a:ea typeface="Calibri" pitchFamily="34" charset="-122"/>
                <a:cs typeface="Calibri" pitchFamily="34" charset="-120"/>
              </a:rPr>
              <a:t>Opening a notification pulls you out of the task. Attune estimates this cost with a simple baseline model.</a:t>
            </a:r>
            <a:endParaRPr lang="en-US" sz="1400" dirty="0"/>
          </a:p>
        </p:txBody>
      </p:sp>
      <p:sp>
        <p:nvSpPr>
          <p:cNvPr id="16" name="ProblemCard"/>
          <p:cNvSpPr/>
          <p:nvPr/>
        </p:nvSpPr>
        <p:spPr>
          <a:xfrm>
            <a:off x="5394960" y="1097280"/>
            <a:ext cx="3291840" cy="3383280"/>
          </a:xfrm>
          <a:prstGeom prst="roundRect">
            <a:avLst>
              <a:gd name="adj" fmla="val 2778"/>
            </a:avLst>
          </a:prstGeom>
          <a:solidFill>
            <a:schemeClr val="bg2"/>
          </a:solidFill>
          <a:ln w="12700">
            <a:solidFill>
              <a:schemeClr val="bg2"/>
            </a:solidFill>
            <a:prstDash val="solid"/>
          </a:ln>
        </p:spPr>
      </p:sp>
      <p:sp>
        <p:nvSpPr>
          <p:cNvPr id="17" name="Text 14"/>
          <p:cNvSpPr txBox="1"/>
          <p:nvPr/>
        </p:nvSpPr>
        <p:spPr>
          <a:xfrm>
            <a:off x="5577840" y="1234440"/>
            <a:ext cx="2926080" cy="365760"/>
          </a:xfrm>
          <a:prstGeom prst="rect">
            <a:avLst/>
          </a:prstGeom>
          <a:noFill/>
          <a:ln/>
        </p:spPr>
        <p:txBody>
          <a:bodyPr wrap="square" lIns="635" tIns="635" rIns="635" bIns="635"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Problem addressed</a:t>
            </a:r>
            <a:endParaRPr lang="en-US" sz="1800" dirty="0"/>
          </a:p>
        </p:txBody>
      </p:sp>
      <p:sp>
        <p:nvSpPr>
          <p:cNvPr id="18" name="Text 15"/>
          <p:cNvSpPr txBox="1"/>
          <p:nvPr/>
        </p:nvSpPr>
        <p:spPr>
          <a:xfrm>
            <a:off x="5577840" y="1645920"/>
            <a:ext cx="2926080" cy="1828800"/>
          </a:xfrm>
          <a:prstGeom prst="rect">
            <a:avLst/>
          </a:prstGeom>
          <a:noFill/>
          <a:ln/>
        </p:spPr>
        <p:txBody>
          <a:bodyPr wrap="square" lIns="635" tIns="635" rIns="635" bIns="635" rtlCol="0" anchor="t"/>
          <a:lstStyle/>
          <a:p>
            <a:pPr indent="0" marL="0">
              <a:buNone/>
            </a:pPr>
            <a:r>
              <a:rPr lang="en-US" sz="1400" dirty="0">
                <a:solidFill>
                  <a:schemeClr val="tx1"/>
                </a:solidFill>
                <a:latin typeface="Calibri" pitchFamily="34" charset="0"/>
                <a:ea typeface="Calibri" pitchFamily="34" charset="-122"/>
                <a:cs typeface="Calibri" pitchFamily="34" charset="-120"/>
              </a:rPr>
              <a:t>During a focus session, decide per notification whether to ALLOW it, HOLD it for later, or keep it visible for REVIEW, so distractions wait but important messages are not silently lost.</a:t>
            </a:r>
            <a:endParaRPr lang="en-US" sz="1400" dirty="0"/>
          </a:p>
        </p:txBody>
      </p:sp>
      <p:sp>
        <p:nvSpPr>
          <p:cNvPr id="19" name="Text 16"/>
          <p:cNvSpPr txBox="1"/>
          <p:nvPr/>
        </p:nvSpPr>
        <p:spPr>
          <a:xfrm>
            <a:off x="5577840" y="3383280"/>
            <a:ext cx="2926080" cy="1051560"/>
          </a:xfrm>
          <a:prstGeom prst="rect">
            <a:avLst/>
          </a:prstGeom>
          <a:noFill/>
          <a:ln/>
        </p:spPr>
        <p:txBody>
          <a:bodyPr wrap="square" lIns="635" tIns="635" rIns="635" bIns="635"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Target users: students and professionals who use Android phones for study or work. (Stated in the project aim; no user study exists in the repo.)</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Proposed solution and objectives</a:t>
            </a:r>
            <a:endParaRPr lang="en-US" sz="2800" dirty="0"/>
          </a:p>
        </p:txBody>
      </p:sp>
      <p:sp>
        <p:nvSpPr>
          <p:cNvPr id="4" name="Card1"/>
          <p:cNvSpPr/>
          <p:nvPr/>
        </p:nvSpPr>
        <p:spPr>
          <a:xfrm>
            <a:off x="457200" y="1005840"/>
            <a:ext cx="2651760" cy="3520440"/>
          </a:xfrm>
          <a:prstGeom prst="roundRect">
            <a:avLst>
              <a:gd name="adj" fmla="val 2759"/>
            </a:avLst>
          </a:prstGeom>
          <a:solidFill>
            <a:schemeClr val="bg2"/>
          </a:solidFill>
          <a:ln w="12700">
            <a:solidFill>
              <a:schemeClr val="bg2"/>
            </a:solidFill>
            <a:prstDash val="solid"/>
          </a:ln>
        </p:spPr>
      </p:sp>
      <p:sp>
        <p:nvSpPr>
          <p:cNvPr id="5" name="Text 2"/>
          <p:cNvSpPr txBox="1"/>
          <p:nvPr/>
        </p:nvSpPr>
        <p:spPr>
          <a:xfrm>
            <a:off x="594360" y="1097280"/>
            <a:ext cx="2377440" cy="365760"/>
          </a:xfrm>
          <a:prstGeom prst="rect">
            <a:avLst/>
          </a:prstGeom>
          <a:noFill/>
          <a:ln/>
        </p:spPr>
        <p:txBody>
          <a:bodyPr wrap="square" lIns="635" tIns="635" rIns="635" bIns="635"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Objectives</a:t>
            </a:r>
            <a:endParaRPr lang="en-US" sz="1800" dirty="0"/>
          </a:p>
        </p:txBody>
      </p:sp>
      <p:sp>
        <p:nvSpPr>
          <p:cNvPr id="6" name="Text 3"/>
          <p:cNvSpPr txBox="1"/>
          <p:nvPr/>
        </p:nvSpPr>
        <p:spPr>
          <a:xfrm>
            <a:off x="594360" y="1508760"/>
            <a:ext cx="2423160" cy="29260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Hold distracting notifications during focus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Never silently hold urgent or uncertain ones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Explain every decision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Keep all data on the device</a:t>
            </a:r>
            <a:endParaRPr lang="en-US" sz="1400" dirty="0"/>
          </a:p>
        </p:txBody>
      </p:sp>
      <p:sp>
        <p:nvSpPr>
          <p:cNvPr id="7" name="Card2"/>
          <p:cNvSpPr/>
          <p:nvPr/>
        </p:nvSpPr>
        <p:spPr>
          <a:xfrm>
            <a:off x="3246120" y="1005840"/>
            <a:ext cx="2651760" cy="3520440"/>
          </a:xfrm>
          <a:prstGeom prst="roundRect">
            <a:avLst>
              <a:gd name="adj" fmla="val 2759"/>
            </a:avLst>
          </a:prstGeom>
          <a:solidFill>
            <a:schemeClr val="bg2"/>
          </a:solidFill>
          <a:ln w="12700">
            <a:solidFill>
              <a:schemeClr val="bg2"/>
            </a:solidFill>
            <a:prstDash val="solid"/>
          </a:ln>
        </p:spPr>
      </p:sp>
      <p:sp>
        <p:nvSpPr>
          <p:cNvPr id="8" name="Text 5"/>
          <p:cNvSpPr txBox="1"/>
          <p:nvPr/>
        </p:nvSpPr>
        <p:spPr>
          <a:xfrm>
            <a:off x="3383280" y="1097280"/>
            <a:ext cx="2377440" cy="365760"/>
          </a:xfrm>
          <a:prstGeom prst="rect">
            <a:avLst/>
          </a:prstGeom>
          <a:noFill/>
          <a:ln/>
        </p:spPr>
        <p:txBody>
          <a:bodyPr wrap="square" lIns="635" tIns="635" rIns="635" bIns="635"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Approach</a:t>
            </a:r>
            <a:endParaRPr lang="en-US" sz="1800" dirty="0"/>
          </a:p>
        </p:txBody>
      </p:sp>
      <p:sp>
        <p:nvSpPr>
          <p:cNvPr id="9" name="Text 6"/>
          <p:cNvSpPr txBox="1"/>
          <p:nvPr/>
        </p:nvSpPr>
        <p:spPr>
          <a:xfrm>
            <a:off x="3383280" y="1508760"/>
            <a:ext cx="2423160" cy="29260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Focus timer defines when to act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Notification listener reads each post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On-device classifier + safety rules + guards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Feedback adjusts future decisions</a:t>
            </a:r>
            <a:endParaRPr lang="en-US" sz="1400" dirty="0"/>
          </a:p>
        </p:txBody>
      </p:sp>
      <p:sp>
        <p:nvSpPr>
          <p:cNvPr id="10" name="Card3"/>
          <p:cNvSpPr/>
          <p:nvPr/>
        </p:nvSpPr>
        <p:spPr>
          <a:xfrm>
            <a:off x="6035040" y="1005840"/>
            <a:ext cx="2651760" cy="3520440"/>
          </a:xfrm>
          <a:prstGeom prst="roundRect">
            <a:avLst>
              <a:gd name="adj" fmla="val 2759"/>
            </a:avLst>
          </a:prstGeom>
          <a:solidFill>
            <a:schemeClr val="bg2"/>
          </a:solidFill>
          <a:ln w="12700">
            <a:solidFill>
              <a:schemeClr val="bg2"/>
            </a:solidFill>
            <a:prstDash val="solid"/>
          </a:ln>
        </p:spPr>
      </p:sp>
      <p:sp>
        <p:nvSpPr>
          <p:cNvPr id="11" name="Text 8"/>
          <p:cNvSpPr txBox="1"/>
          <p:nvPr/>
        </p:nvSpPr>
        <p:spPr>
          <a:xfrm>
            <a:off x="6172200" y="1097280"/>
            <a:ext cx="2377440" cy="365760"/>
          </a:xfrm>
          <a:prstGeom prst="rect">
            <a:avLst/>
          </a:prstGeom>
          <a:noFill/>
          <a:ln/>
        </p:spPr>
        <p:txBody>
          <a:bodyPr wrap="square" lIns="635" tIns="635" rIns="635" bIns="635"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Key contribution</a:t>
            </a:r>
            <a:endParaRPr lang="en-US" sz="1800" dirty="0"/>
          </a:p>
        </p:txBody>
      </p:sp>
      <p:sp>
        <p:nvSpPr>
          <p:cNvPr id="12" name="Text 9"/>
          <p:cNvSpPr txBox="1"/>
          <p:nvPr/>
        </p:nvSpPr>
        <p:spPr>
          <a:xfrm>
            <a:off x="6172200" y="1508760"/>
            <a:ext cx="2423160" cy="29260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Separate signals: importance, urgency, distraction, link risk</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REVIEW outcome as the safe fallback</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Cancellation only after the item is saved, and only confirmed when Android reports it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No network code in the app</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System architecture</a:t>
            </a:r>
            <a:endParaRPr lang="en-US" sz="2800" dirty="0"/>
          </a:p>
        </p:txBody>
      </p:sp>
      <p:sp>
        <p:nvSpPr>
          <p:cNvPr id="4" name="Arch1"/>
          <p:cNvSpPr/>
          <p:nvPr/>
        </p:nvSpPr>
        <p:spPr>
          <a:xfrm>
            <a:off x="457200" y="1005840"/>
            <a:ext cx="1417320" cy="777240"/>
          </a:xfrm>
          <a:prstGeom prst="roundRect">
            <a:avLst>
              <a:gd name="adj" fmla="val 9412"/>
            </a:avLst>
          </a:prstGeom>
          <a:solidFill>
            <a:schemeClr val="bg2"/>
          </a:solidFill>
          <a:ln w="12700">
            <a:solidFill>
              <a:schemeClr val="bg2"/>
            </a:solidFill>
          </a:ln>
        </p:spPr>
        <p:txBody>
          <a:bodyPr wrap="square" lIns="762" tIns="762" rIns="762" bIns="762"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Other app posts</a:t>
            </a:r>
            <a:endParaRPr lang="en-US" sz="1100" dirty="0"/>
          </a:p>
          <a:p>
            <a:pPr algn="ctr" indent="0" marL="0">
              <a:buNone/>
            </a:pPr>
            <a:r>
              <a:rPr lang="en-US" sz="1100" b="1" dirty="0">
                <a:solidFill>
                  <a:schemeClr val="tx1"/>
                </a:solidFill>
                <a:latin typeface="Calibri" pitchFamily="34" charset="0"/>
                <a:ea typeface="Calibri" pitchFamily="34" charset="-122"/>
                <a:cs typeface="Calibri" pitchFamily="34" charset="-120"/>
              </a:rPr>
              <a:t>notification</a:t>
            </a:r>
            <a:endParaRPr lang="en-US" sz="1100" dirty="0"/>
          </a:p>
        </p:txBody>
      </p:sp>
      <p:sp>
        <p:nvSpPr>
          <p:cNvPr id="5" name="Shape 2"/>
          <p:cNvSpPr/>
          <p:nvPr/>
        </p:nvSpPr>
        <p:spPr>
          <a:xfrm>
            <a:off x="1874520" y="1394460"/>
            <a:ext cx="274320" cy="0"/>
          </a:xfrm>
          <a:prstGeom prst="line">
            <a:avLst/>
          </a:prstGeom>
          <a:noFill/>
          <a:ln w="19050">
            <a:solidFill>
              <a:schemeClr val="accent6"/>
            </a:solidFill>
            <a:prstDash val="solid"/>
            <a:tailEnd type="triangle"/>
          </a:ln>
        </p:spPr>
      </p:sp>
      <p:sp>
        <p:nvSpPr>
          <p:cNvPr id="6" name="Arch2"/>
          <p:cNvSpPr/>
          <p:nvPr/>
        </p:nvSpPr>
        <p:spPr>
          <a:xfrm>
            <a:off x="2148840" y="1005840"/>
            <a:ext cx="1417320" cy="777240"/>
          </a:xfrm>
          <a:prstGeom prst="roundRect">
            <a:avLst>
              <a:gd name="adj" fmla="val 9412"/>
            </a:avLst>
          </a:prstGeom>
          <a:solidFill>
            <a:schemeClr val="accent1"/>
          </a:solidFill>
          <a:ln w="12700">
            <a:solidFill>
              <a:schemeClr val="accent1"/>
            </a:solidFill>
          </a:ln>
        </p:spPr>
        <p:txBody>
          <a:bodyPr wrap="square" lIns="762" tIns="762" rIns="762" bIns="762"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FocusListenerService</a:t>
            </a:r>
            <a:endParaRPr lang="en-US" sz="1100" dirty="0"/>
          </a:p>
          <a:p>
            <a:pPr algn="ctr" indent="0" marL="0">
              <a:buNone/>
            </a:pPr>
            <a:r>
              <a:rPr lang="en-US" sz="1100" b="1" dirty="0">
                <a:solidFill>
                  <a:schemeClr val="bg1"/>
                </a:solidFill>
                <a:latin typeface="Calibri" pitchFamily="34" charset="0"/>
                <a:ea typeface="Calibri" pitchFamily="34" charset="-122"/>
                <a:cs typeface="Calibri" pitchFamily="34" charset="-120"/>
              </a:rPr>
              <a:t>(NotificationListener)</a:t>
            </a:r>
            <a:endParaRPr lang="en-US" sz="1100" dirty="0"/>
          </a:p>
        </p:txBody>
      </p:sp>
      <p:sp>
        <p:nvSpPr>
          <p:cNvPr id="7" name="Shape 4"/>
          <p:cNvSpPr/>
          <p:nvPr/>
        </p:nvSpPr>
        <p:spPr>
          <a:xfrm>
            <a:off x="3566160" y="1394460"/>
            <a:ext cx="274320" cy="0"/>
          </a:xfrm>
          <a:prstGeom prst="line">
            <a:avLst/>
          </a:prstGeom>
          <a:noFill/>
          <a:ln w="19050">
            <a:solidFill>
              <a:schemeClr val="accent6"/>
            </a:solidFill>
            <a:prstDash val="solid"/>
            <a:tailEnd type="triangle"/>
          </a:ln>
        </p:spPr>
      </p:sp>
      <p:sp>
        <p:nvSpPr>
          <p:cNvPr id="8" name="Arch3"/>
          <p:cNvSpPr/>
          <p:nvPr/>
        </p:nvSpPr>
        <p:spPr>
          <a:xfrm>
            <a:off x="3840480" y="1005840"/>
            <a:ext cx="1417320" cy="777240"/>
          </a:xfrm>
          <a:prstGeom prst="roundRect">
            <a:avLst>
              <a:gd name="adj" fmla="val 9412"/>
            </a:avLst>
          </a:prstGeom>
          <a:solidFill>
            <a:schemeClr val="accent1"/>
          </a:solidFill>
          <a:ln w="12700">
            <a:solidFill>
              <a:schemeClr val="accent1"/>
            </a:solidFill>
          </a:ln>
        </p:spPr>
        <p:txBody>
          <a:bodyPr wrap="square" lIns="762" tIns="762" rIns="762" bIns="762"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NotificationProcessor</a:t>
            </a:r>
            <a:endParaRPr lang="en-US" sz="1100" dirty="0"/>
          </a:p>
          <a:p>
            <a:pPr algn="ctr" indent="0" marL="0">
              <a:buNone/>
            </a:pPr>
            <a:r>
              <a:rPr lang="en-US" sz="1100" b="1" dirty="0">
                <a:solidFill>
                  <a:schemeClr val="bg1"/>
                </a:solidFill>
                <a:latin typeface="Calibri" pitchFamily="34" charset="0"/>
                <a:ea typeface="Calibri" pitchFamily="34" charset="-122"/>
                <a:cs typeface="Calibri" pitchFamily="34" charset="-120"/>
              </a:rPr>
              <a:t>decide, save, cancel</a:t>
            </a:r>
            <a:endParaRPr lang="en-US" sz="1100" dirty="0"/>
          </a:p>
        </p:txBody>
      </p:sp>
      <p:sp>
        <p:nvSpPr>
          <p:cNvPr id="9" name="Shape 6"/>
          <p:cNvSpPr/>
          <p:nvPr/>
        </p:nvSpPr>
        <p:spPr>
          <a:xfrm>
            <a:off x="5257800" y="1394460"/>
            <a:ext cx="274320" cy="0"/>
          </a:xfrm>
          <a:prstGeom prst="line">
            <a:avLst/>
          </a:prstGeom>
          <a:noFill/>
          <a:ln w="19050">
            <a:solidFill>
              <a:schemeClr val="accent6"/>
            </a:solidFill>
            <a:prstDash val="solid"/>
            <a:tailEnd type="triangle"/>
          </a:ln>
        </p:spPr>
      </p:sp>
      <p:sp>
        <p:nvSpPr>
          <p:cNvPr id="10" name="Arch4"/>
          <p:cNvSpPr/>
          <p:nvPr/>
        </p:nvSpPr>
        <p:spPr>
          <a:xfrm>
            <a:off x="5532120" y="1005840"/>
            <a:ext cx="1417320" cy="777240"/>
          </a:xfrm>
          <a:prstGeom prst="roundRect">
            <a:avLst>
              <a:gd name="adj" fmla="val 9412"/>
            </a:avLst>
          </a:prstGeom>
          <a:solidFill>
            <a:schemeClr val="accent2"/>
          </a:solidFill>
          <a:ln w="12700">
            <a:solidFill>
              <a:schemeClr val="accent2"/>
            </a:solidFill>
          </a:ln>
        </p:spPr>
        <p:txBody>
          <a:bodyPr wrap="square" lIns="762" tIns="762" rIns="762" bIns="762"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Decision engine</a:t>
            </a:r>
            <a:endParaRPr lang="en-US" sz="1100" dirty="0"/>
          </a:p>
          <a:p>
            <a:pPr algn="ctr" indent="0" marL="0">
              <a:buNone/>
            </a:pPr>
            <a:r>
              <a:rPr lang="en-US" sz="1100" b="1" dirty="0">
                <a:solidFill>
                  <a:schemeClr val="bg1"/>
                </a:solidFill>
                <a:latin typeface="Calibri" pitchFamily="34" charset="0"/>
                <a:ea typeface="Calibri" pitchFamily="34" charset="-122"/>
                <a:cs typeface="Calibri" pitchFamily="34" charset="-120"/>
              </a:rPr>
              <a:t>(:prediction)</a:t>
            </a:r>
            <a:endParaRPr lang="en-US" sz="1100" dirty="0"/>
          </a:p>
        </p:txBody>
      </p:sp>
      <p:sp>
        <p:nvSpPr>
          <p:cNvPr id="11" name="Shape 8"/>
          <p:cNvSpPr/>
          <p:nvPr/>
        </p:nvSpPr>
        <p:spPr>
          <a:xfrm>
            <a:off x="6949440" y="1394460"/>
            <a:ext cx="274320" cy="0"/>
          </a:xfrm>
          <a:prstGeom prst="line">
            <a:avLst/>
          </a:prstGeom>
          <a:noFill/>
          <a:ln w="19050">
            <a:solidFill>
              <a:schemeClr val="accent6"/>
            </a:solidFill>
            <a:prstDash val="solid"/>
            <a:tailEnd type="triangle"/>
          </a:ln>
        </p:spPr>
      </p:sp>
      <p:sp>
        <p:nvSpPr>
          <p:cNvPr id="12" name="Arch5"/>
          <p:cNvSpPr/>
          <p:nvPr/>
        </p:nvSpPr>
        <p:spPr>
          <a:xfrm>
            <a:off x="7223760" y="1005840"/>
            <a:ext cx="1417320" cy="777240"/>
          </a:xfrm>
          <a:prstGeom prst="roundRect">
            <a:avLst>
              <a:gd name="adj" fmla="val 9412"/>
            </a:avLst>
          </a:prstGeom>
          <a:solidFill>
            <a:schemeClr val="accent3"/>
          </a:solidFill>
          <a:ln w="12700">
            <a:solidFill>
              <a:schemeClr val="accent3"/>
            </a:solidFill>
          </a:ln>
        </p:spPr>
        <p:txBody>
          <a:bodyPr wrap="square" lIns="762" tIns="762" rIns="762" bIns="762"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Room + DataStore</a:t>
            </a:r>
            <a:endParaRPr lang="en-US" sz="1100" dirty="0"/>
          </a:p>
          <a:p>
            <a:pPr algn="ctr" indent="0" marL="0">
              <a:buNone/>
            </a:pPr>
            <a:r>
              <a:rPr lang="en-US" sz="1100" b="1" dirty="0">
                <a:solidFill>
                  <a:schemeClr val="bg1"/>
                </a:solidFill>
                <a:latin typeface="Calibri" pitchFamily="34" charset="0"/>
                <a:ea typeface="Calibri" pitchFamily="34" charset="-122"/>
                <a:cs typeface="Calibri" pitchFamily="34" charset="-120"/>
              </a:rPr>
              <a:t>(:core-model, v4)</a:t>
            </a:r>
            <a:endParaRPr lang="en-US" sz="1100" dirty="0"/>
          </a:p>
        </p:txBody>
      </p:sp>
      <p:sp>
        <p:nvSpPr>
          <p:cNvPr id="13" name="ArchUI"/>
          <p:cNvSpPr/>
          <p:nvPr/>
        </p:nvSpPr>
        <p:spPr>
          <a:xfrm>
            <a:off x="2468880" y="2011680"/>
            <a:ext cx="6217920" cy="502920"/>
          </a:xfrm>
          <a:prstGeom prst="roundRect">
            <a:avLst>
              <a:gd name="adj" fmla="val 14545"/>
            </a:avLst>
          </a:prstGeom>
          <a:solidFill>
            <a:schemeClr val="bg2"/>
          </a:solidFill>
          <a:ln w="12700">
            <a:solidFill>
              <a:schemeClr val="accent1"/>
            </a:solidFill>
          </a:ln>
        </p:spPr>
        <p:txBody>
          <a:bodyPr wrap="square" lIns="762" tIns="762" rIns="762" bIns="762"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Jetpack Compose UI: Home · Focus · Queue · Insights · Profile (ViewModels + Hilt)</a:t>
            </a:r>
            <a:endParaRPr lang="en-US" sz="1200" dirty="0"/>
          </a:p>
        </p:txBody>
      </p:sp>
      <p:sp>
        <p:nvSpPr>
          <p:cNvPr id="14" name="Shape 11"/>
          <p:cNvSpPr/>
          <p:nvPr/>
        </p:nvSpPr>
        <p:spPr>
          <a:xfrm>
            <a:off x="7315200" y="1783080"/>
            <a:ext cx="0" cy="228600"/>
          </a:xfrm>
          <a:prstGeom prst="line">
            <a:avLst/>
          </a:prstGeom>
          <a:noFill/>
          <a:ln w="19050">
            <a:solidFill>
              <a:schemeClr val="accent6"/>
            </a:solidFill>
            <a:prstDash val="solid"/>
            <a:tailEnd type="triangle"/>
          </a:ln>
        </p:spPr>
      </p:sp>
      <p:sp>
        <p:nvSpPr>
          <p:cNvPr id="15" name="Text 12"/>
          <p:cNvSpPr txBox="1"/>
          <p:nvPr/>
        </p:nvSpPr>
        <p:spPr>
          <a:xfrm>
            <a:off x="457200" y="2651760"/>
            <a:ext cx="8229600" cy="329184"/>
          </a:xfrm>
          <a:prstGeom prst="rect">
            <a:avLst/>
          </a:prstGeom>
          <a:noFill/>
          <a:ln/>
        </p:spPr>
        <p:txBody>
          <a:bodyPr wrap="square" lIns="635" tIns="635" rIns="635" bIns="635"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Inside the decision engine (:prediction, no Android dependencies)</a:t>
            </a:r>
            <a:endParaRPr lang="en-US" sz="1400" dirty="0"/>
          </a:p>
        </p:txBody>
      </p:sp>
      <p:sp>
        <p:nvSpPr>
          <p:cNvPr id="16" name="Mod1"/>
          <p:cNvSpPr/>
          <p:nvPr/>
        </p:nvSpPr>
        <p:spPr>
          <a:xfrm>
            <a:off x="457200" y="3017520"/>
            <a:ext cx="1280160" cy="411480"/>
          </a:xfrm>
          <a:prstGeom prst="roundRect">
            <a:avLst>
              <a:gd name="adj" fmla="val 17778"/>
            </a:avLst>
          </a:prstGeom>
          <a:solidFill>
            <a:schemeClr val="bg1"/>
          </a:solidFill>
          <a:ln w="12700">
            <a:solidFill>
              <a:schemeClr val="accent2"/>
            </a:solidFill>
          </a:ln>
        </p:spPr>
        <p:txBody>
          <a:bodyPr wrap="square" lIns="762" tIns="762" rIns="762" bIns="762"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TextFeaturizer</a:t>
            </a:r>
            <a:endParaRPr lang="en-US" sz="1100" dirty="0"/>
          </a:p>
        </p:txBody>
      </p:sp>
      <p:sp>
        <p:nvSpPr>
          <p:cNvPr id="17" name="Mod2"/>
          <p:cNvSpPr/>
          <p:nvPr/>
        </p:nvSpPr>
        <p:spPr>
          <a:xfrm>
            <a:off x="1828800" y="3017520"/>
            <a:ext cx="1280160" cy="411480"/>
          </a:xfrm>
          <a:prstGeom prst="roundRect">
            <a:avLst>
              <a:gd name="adj" fmla="val 17778"/>
            </a:avLst>
          </a:prstGeom>
          <a:solidFill>
            <a:schemeClr val="bg1"/>
          </a:solidFill>
          <a:ln w="12700">
            <a:solidFill>
              <a:schemeClr val="accent2"/>
            </a:solidFill>
          </a:ln>
        </p:spPr>
        <p:txBody>
          <a:bodyPr wrap="square" lIns="762" tIns="762" rIns="762" bIns="762"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LogRegClassifier</a:t>
            </a:r>
            <a:endParaRPr lang="en-US" sz="1100" dirty="0"/>
          </a:p>
        </p:txBody>
      </p:sp>
      <p:sp>
        <p:nvSpPr>
          <p:cNvPr id="18" name="Mod3"/>
          <p:cNvSpPr/>
          <p:nvPr/>
        </p:nvSpPr>
        <p:spPr>
          <a:xfrm>
            <a:off x="3200400" y="3017520"/>
            <a:ext cx="1280160" cy="411480"/>
          </a:xfrm>
          <a:prstGeom prst="roundRect">
            <a:avLst>
              <a:gd name="adj" fmla="val 17778"/>
            </a:avLst>
          </a:prstGeom>
          <a:solidFill>
            <a:schemeClr val="bg1"/>
          </a:solidFill>
          <a:ln w="12700">
            <a:solidFill>
              <a:schemeClr val="accent2"/>
            </a:solidFill>
          </a:ln>
        </p:spPr>
        <p:txBody>
          <a:bodyPr wrap="square" lIns="762" tIns="762" rIns="762" bIns="762"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SafetyRules</a:t>
            </a:r>
            <a:endParaRPr lang="en-US" sz="1100" dirty="0"/>
          </a:p>
        </p:txBody>
      </p:sp>
      <p:sp>
        <p:nvSpPr>
          <p:cNvPr id="19" name="Mod4"/>
          <p:cNvSpPr/>
          <p:nvPr/>
        </p:nvSpPr>
        <p:spPr>
          <a:xfrm>
            <a:off x="4572000" y="3017520"/>
            <a:ext cx="1280160" cy="411480"/>
          </a:xfrm>
          <a:prstGeom prst="roundRect">
            <a:avLst>
              <a:gd name="adj" fmla="val 17778"/>
            </a:avLst>
          </a:prstGeom>
          <a:solidFill>
            <a:schemeClr val="bg1"/>
          </a:solidFill>
          <a:ln w="12700">
            <a:solidFill>
              <a:schemeClr val="accent2"/>
            </a:solidFill>
          </a:ln>
        </p:spPr>
        <p:txBody>
          <a:bodyPr wrap="square" lIns="762" tIns="762" rIns="762" bIns="762"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LinkAnalyzer</a:t>
            </a:r>
            <a:endParaRPr lang="en-US" sz="1100" dirty="0"/>
          </a:p>
        </p:txBody>
      </p:sp>
      <p:sp>
        <p:nvSpPr>
          <p:cNvPr id="20" name="Mod5"/>
          <p:cNvSpPr/>
          <p:nvPr/>
        </p:nvSpPr>
        <p:spPr>
          <a:xfrm>
            <a:off x="5943600" y="3017520"/>
            <a:ext cx="1280160" cy="411480"/>
          </a:xfrm>
          <a:prstGeom prst="roundRect">
            <a:avLst>
              <a:gd name="adj" fmla="val 17778"/>
            </a:avLst>
          </a:prstGeom>
          <a:solidFill>
            <a:schemeClr val="bg1"/>
          </a:solidFill>
          <a:ln w="12700">
            <a:solidFill>
              <a:schemeClr val="accent2"/>
            </a:solidFill>
          </a:ln>
        </p:spPr>
        <p:txBody>
          <a:bodyPr wrap="square" lIns="762" tIns="762" rIns="762" bIns="762"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RiskPolicy</a:t>
            </a:r>
            <a:endParaRPr lang="en-US" sz="1100" dirty="0"/>
          </a:p>
        </p:txBody>
      </p:sp>
      <p:sp>
        <p:nvSpPr>
          <p:cNvPr id="21" name="Mod6"/>
          <p:cNvSpPr/>
          <p:nvPr/>
        </p:nvSpPr>
        <p:spPr>
          <a:xfrm>
            <a:off x="7315200" y="3017520"/>
            <a:ext cx="1280160" cy="411480"/>
          </a:xfrm>
          <a:prstGeom prst="roundRect">
            <a:avLst>
              <a:gd name="adj" fmla="val 17778"/>
            </a:avLst>
          </a:prstGeom>
          <a:solidFill>
            <a:schemeClr val="bg1"/>
          </a:solidFill>
          <a:ln w="12700">
            <a:solidFill>
              <a:schemeClr val="accent2"/>
            </a:solidFill>
          </a:ln>
        </p:spPr>
        <p:txBody>
          <a:bodyPr wrap="square" lIns="762" tIns="762" rIns="762" bIns="762"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Personalization</a:t>
            </a:r>
            <a:endParaRPr lang="en-US" sz="1100" dirty="0"/>
          </a:p>
        </p:txBody>
      </p:sp>
      <p:sp>
        <p:nvSpPr>
          <p:cNvPr id="22" name="OfflineBand"/>
          <p:cNvSpPr/>
          <p:nvPr/>
        </p:nvSpPr>
        <p:spPr>
          <a:xfrm>
            <a:off x="457200" y="3657600"/>
            <a:ext cx="8229600" cy="960120"/>
          </a:xfrm>
          <a:prstGeom prst="roundRect">
            <a:avLst>
              <a:gd name="adj" fmla="val 7619"/>
            </a:avLst>
          </a:prstGeom>
          <a:solidFill>
            <a:schemeClr val="bg2"/>
          </a:solidFill>
          <a:ln w="12700">
            <a:solidFill>
              <a:schemeClr val="accent6"/>
            </a:solidFill>
            <a:prstDash val="dash"/>
          </a:ln>
        </p:spPr>
      </p:sp>
      <p:sp>
        <p:nvSpPr>
          <p:cNvPr id="23" name="Text 20"/>
          <p:cNvSpPr txBox="1"/>
          <p:nvPr/>
        </p:nvSpPr>
        <p:spPr>
          <a:xfrm>
            <a:off x="548640" y="3685032"/>
            <a:ext cx="3657600" cy="256032"/>
          </a:xfrm>
          <a:prstGeom prst="rect">
            <a:avLst/>
          </a:prstGeom>
          <a:noFill/>
          <a:ln/>
        </p:spPr>
        <p:txBody>
          <a:bodyPr wrap="square" lIns="635" tIns="635" rIns="635" bIns="635" rtlCol="0" anchor="t"/>
          <a:lstStyle/>
          <a:p>
            <a:pPr indent="0" marL="0">
              <a:buNone/>
            </a:pPr>
            <a:r>
              <a:rPr lang="en-US" sz="1200" b="1" dirty="0">
                <a:solidFill>
                  <a:schemeClr val="accent6"/>
                </a:solidFill>
                <a:latin typeface="Calibri" pitchFamily="34" charset="0"/>
                <a:ea typeface="Calibri" pitchFamily="34" charset="-122"/>
                <a:cs typeface="Calibri" pitchFamily="34" charset="-120"/>
              </a:rPr>
              <a:t>Offline only (Python, not on the phone)</a:t>
            </a:r>
            <a:endParaRPr lang="en-US" sz="1200" dirty="0"/>
          </a:p>
        </p:txBody>
      </p:sp>
      <p:sp>
        <p:nvSpPr>
          <p:cNvPr id="24" name="Off1"/>
          <p:cNvSpPr/>
          <p:nvPr/>
        </p:nvSpPr>
        <p:spPr>
          <a:xfrm>
            <a:off x="594360" y="3977640"/>
            <a:ext cx="1691640" cy="548640"/>
          </a:xfrm>
          <a:prstGeom prst="roundRect">
            <a:avLst>
              <a:gd name="adj" fmla="val 13333"/>
            </a:avLst>
          </a:prstGeom>
          <a:solidFill>
            <a:schemeClr val="bg1"/>
          </a:solidFill>
          <a:ln w="12700">
            <a:solidFill>
              <a:schemeClr val="accent6"/>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generate_dataset.py</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3,105 synthetic rows</a:t>
            </a:r>
            <a:endParaRPr lang="en-US" sz="1000" dirty="0"/>
          </a:p>
        </p:txBody>
      </p:sp>
      <p:sp>
        <p:nvSpPr>
          <p:cNvPr id="25" name="Shape 22"/>
          <p:cNvSpPr/>
          <p:nvPr/>
        </p:nvSpPr>
        <p:spPr>
          <a:xfrm>
            <a:off x="2286000" y="4251960"/>
            <a:ext cx="320040" cy="0"/>
          </a:xfrm>
          <a:prstGeom prst="line">
            <a:avLst/>
          </a:prstGeom>
          <a:noFill/>
          <a:ln w="19050">
            <a:solidFill>
              <a:schemeClr val="accent6"/>
            </a:solidFill>
            <a:prstDash val="solid"/>
            <a:tailEnd type="triangle"/>
          </a:ln>
        </p:spPr>
      </p:sp>
      <p:sp>
        <p:nvSpPr>
          <p:cNvPr id="26" name="Off2"/>
          <p:cNvSpPr/>
          <p:nvPr/>
        </p:nvSpPr>
        <p:spPr>
          <a:xfrm>
            <a:off x="2606040" y="3977640"/>
            <a:ext cx="1691640" cy="548640"/>
          </a:xfrm>
          <a:prstGeom prst="roundRect">
            <a:avLst>
              <a:gd name="adj" fmla="val 13333"/>
            </a:avLst>
          </a:prstGeom>
          <a:solidFill>
            <a:schemeClr val="bg1"/>
          </a:solidFill>
          <a:ln w="12700">
            <a:solidFill>
              <a:schemeClr val="accent6"/>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train.py</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logistic regression</a:t>
            </a:r>
            <a:endParaRPr lang="en-US" sz="1000" dirty="0"/>
          </a:p>
        </p:txBody>
      </p:sp>
      <p:sp>
        <p:nvSpPr>
          <p:cNvPr id="27" name="Shape 24"/>
          <p:cNvSpPr/>
          <p:nvPr/>
        </p:nvSpPr>
        <p:spPr>
          <a:xfrm>
            <a:off x="4297680" y="4251960"/>
            <a:ext cx="320040" cy="0"/>
          </a:xfrm>
          <a:prstGeom prst="line">
            <a:avLst/>
          </a:prstGeom>
          <a:noFill/>
          <a:ln w="19050">
            <a:solidFill>
              <a:schemeClr val="accent6"/>
            </a:solidFill>
            <a:prstDash val="solid"/>
            <a:tailEnd type="triangle"/>
          </a:ln>
        </p:spPr>
      </p:sp>
      <p:sp>
        <p:nvSpPr>
          <p:cNvPr id="28" name="Off3"/>
          <p:cNvSpPr/>
          <p:nvPr/>
        </p:nvSpPr>
        <p:spPr>
          <a:xfrm>
            <a:off x="4617720" y="3977640"/>
            <a:ext cx="1691640" cy="548640"/>
          </a:xfrm>
          <a:prstGeom prst="roundRect">
            <a:avLst>
              <a:gd name="adj" fmla="val 13333"/>
            </a:avLst>
          </a:prstGeom>
          <a:solidFill>
            <a:schemeClr val="bg1"/>
          </a:solidFill>
          <a:ln w="12700">
            <a:solidFill>
              <a:schemeClr val="accent6"/>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attune_text_model.json</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 golden vectors</a:t>
            </a:r>
            <a:endParaRPr lang="en-US" sz="1000" dirty="0"/>
          </a:p>
        </p:txBody>
      </p:sp>
      <p:sp>
        <p:nvSpPr>
          <p:cNvPr id="29" name="Shape 26"/>
          <p:cNvSpPr/>
          <p:nvPr/>
        </p:nvSpPr>
        <p:spPr>
          <a:xfrm>
            <a:off x="6309360" y="4251960"/>
            <a:ext cx="320040" cy="0"/>
          </a:xfrm>
          <a:prstGeom prst="line">
            <a:avLst/>
          </a:prstGeom>
          <a:noFill/>
          <a:ln w="19050">
            <a:solidFill>
              <a:schemeClr val="accent6"/>
            </a:solidFill>
            <a:prstDash val="solid"/>
            <a:tailEnd type="triangle"/>
          </a:ln>
        </p:spPr>
      </p:sp>
      <p:sp>
        <p:nvSpPr>
          <p:cNvPr id="30" name="Off4"/>
          <p:cNvSpPr/>
          <p:nvPr/>
        </p:nvSpPr>
        <p:spPr>
          <a:xfrm>
            <a:off x="6629400" y="3977640"/>
            <a:ext cx="1691640" cy="548640"/>
          </a:xfrm>
          <a:prstGeom prst="roundRect">
            <a:avLst>
              <a:gd name="adj" fmla="val 13333"/>
            </a:avLst>
          </a:prstGeom>
          <a:solidFill>
            <a:schemeClr val="bg1"/>
          </a:solidFill>
          <a:ln w="12700">
            <a:solidFill>
              <a:schemeClr val="accent6"/>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App assets: model</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runs in Kotlin</a:t>
            </a:r>
            <a:endParaRPr lang="en-US" sz="10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Solution flow: from notification to outcome</a:t>
            </a:r>
            <a:endParaRPr lang="en-US" sz="2800" dirty="0"/>
          </a:p>
        </p:txBody>
      </p:sp>
      <p:sp>
        <p:nvSpPr>
          <p:cNvPr id="4" name="F1_0"/>
          <p:cNvSpPr/>
          <p:nvPr/>
        </p:nvSpPr>
        <p:spPr>
          <a:xfrm>
            <a:off x="457200" y="960120"/>
            <a:ext cx="1691640" cy="566928"/>
          </a:xfrm>
          <a:prstGeom prst="roundRect">
            <a:avLst>
              <a:gd name="adj" fmla="val 12903"/>
            </a:avLst>
          </a:prstGeom>
          <a:solidFill>
            <a:schemeClr val="bg2"/>
          </a:solidFill>
          <a:ln w="12700">
            <a:solidFill>
              <a:schemeClr val="bg2"/>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Notification posted</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(sbn key, title, text,</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category, flags)</a:t>
            </a:r>
            <a:endParaRPr lang="en-US" sz="1000" dirty="0"/>
          </a:p>
        </p:txBody>
      </p:sp>
      <p:sp>
        <p:nvSpPr>
          <p:cNvPr id="5" name="F1_1"/>
          <p:cNvSpPr/>
          <p:nvPr/>
        </p:nvSpPr>
        <p:spPr>
          <a:xfrm>
            <a:off x="2423160" y="960120"/>
            <a:ext cx="1691640" cy="566928"/>
          </a:xfrm>
          <a:prstGeom prst="roundRect">
            <a:avLst>
              <a:gd name="adj" fmla="val 12903"/>
            </a:avLst>
          </a:prstGeom>
          <a:solidFill>
            <a:schemeClr val="bg2"/>
          </a:solidFill>
          <a:ln w="12700">
            <a:solidFill>
              <a:schemeClr val="bg2"/>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Skip: Attune's own,</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ongoing, non-clearable,</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group summary</a:t>
            </a:r>
            <a:endParaRPr lang="en-US" sz="1000" dirty="0"/>
          </a:p>
        </p:txBody>
      </p:sp>
      <p:sp>
        <p:nvSpPr>
          <p:cNvPr id="6" name="F1_2"/>
          <p:cNvSpPr/>
          <p:nvPr/>
        </p:nvSpPr>
        <p:spPr>
          <a:xfrm>
            <a:off x="4389120" y="960120"/>
            <a:ext cx="1691640" cy="566928"/>
          </a:xfrm>
          <a:prstGeom prst="roundRect">
            <a:avLst>
              <a:gd name="adj" fmla="val 12903"/>
            </a:avLst>
          </a:prstGeom>
          <a:solidFill>
            <a:schemeClr val="bg1"/>
          </a:solidFill>
          <a:ln w="12700">
            <a:solidFill>
              <a:schemeClr val="accent1"/>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Active focus</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session?</a:t>
            </a:r>
            <a:endParaRPr lang="en-US" sz="1000" dirty="0"/>
          </a:p>
        </p:txBody>
      </p:sp>
      <p:sp>
        <p:nvSpPr>
          <p:cNvPr id="7" name="F1_3"/>
          <p:cNvSpPr/>
          <p:nvPr/>
        </p:nvSpPr>
        <p:spPr>
          <a:xfrm>
            <a:off x="6446520" y="960120"/>
            <a:ext cx="2240280" cy="566928"/>
          </a:xfrm>
          <a:prstGeom prst="roundRect">
            <a:avLst>
              <a:gd name="adj" fmla="val 12903"/>
            </a:avLst>
          </a:prstGeom>
          <a:solidFill>
            <a:schemeClr val="accent2"/>
          </a:solidFill>
          <a:ln w="12700">
            <a:solidFill>
              <a:schemeClr val="accent2"/>
            </a:solidFill>
          </a:ln>
        </p:spPr>
        <p:txBody>
          <a:bodyPr wrap="square" lIns="762" tIns="762" rIns="762" bIns="762"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Engine.decide</a:t>
            </a:r>
            <a:endParaRPr lang="en-US" sz="1000" dirty="0"/>
          </a:p>
          <a:p>
            <a:pPr algn="ctr" indent="0" marL="0">
              <a:buNone/>
            </a:pPr>
            <a:r>
              <a:rPr lang="en-US" sz="1000" b="1" dirty="0">
                <a:solidFill>
                  <a:schemeClr val="bg1"/>
                </a:solidFill>
                <a:latin typeface="Calibri" pitchFamily="34" charset="0"/>
                <a:ea typeface="Calibri" pitchFamily="34" charset="-122"/>
                <a:cs typeface="Calibri" pitchFamily="34" charset="-120"/>
              </a:rPr>
              <a:t>(next row)</a:t>
            </a:r>
            <a:endParaRPr lang="en-US" sz="1000" dirty="0"/>
          </a:p>
        </p:txBody>
      </p:sp>
      <p:sp>
        <p:nvSpPr>
          <p:cNvPr id="8" name="Shape 5"/>
          <p:cNvSpPr/>
          <p:nvPr/>
        </p:nvSpPr>
        <p:spPr>
          <a:xfrm>
            <a:off x="2148840" y="1243584"/>
            <a:ext cx="274320" cy="0"/>
          </a:xfrm>
          <a:prstGeom prst="line">
            <a:avLst/>
          </a:prstGeom>
          <a:noFill/>
          <a:ln w="19050">
            <a:solidFill>
              <a:schemeClr val="accent6"/>
            </a:solidFill>
            <a:prstDash val="solid"/>
            <a:tailEnd type="triangle"/>
          </a:ln>
        </p:spPr>
      </p:sp>
      <p:sp>
        <p:nvSpPr>
          <p:cNvPr id="9" name="Shape 6"/>
          <p:cNvSpPr/>
          <p:nvPr/>
        </p:nvSpPr>
        <p:spPr>
          <a:xfrm>
            <a:off x="4114800" y="1243584"/>
            <a:ext cx="274320" cy="0"/>
          </a:xfrm>
          <a:prstGeom prst="line">
            <a:avLst/>
          </a:prstGeom>
          <a:noFill/>
          <a:ln w="19050">
            <a:solidFill>
              <a:schemeClr val="accent6"/>
            </a:solidFill>
            <a:prstDash val="solid"/>
            <a:tailEnd type="triangle"/>
          </a:ln>
        </p:spPr>
      </p:sp>
      <p:sp>
        <p:nvSpPr>
          <p:cNvPr id="10" name="Shape 7"/>
          <p:cNvSpPr/>
          <p:nvPr/>
        </p:nvSpPr>
        <p:spPr>
          <a:xfrm>
            <a:off x="6080760" y="1243584"/>
            <a:ext cx="365760" cy="0"/>
          </a:xfrm>
          <a:prstGeom prst="line">
            <a:avLst/>
          </a:prstGeom>
          <a:noFill/>
          <a:ln w="19050">
            <a:solidFill>
              <a:schemeClr val="accent6"/>
            </a:solidFill>
            <a:prstDash val="solid"/>
            <a:tailEnd type="triangle"/>
          </a:ln>
        </p:spPr>
      </p:sp>
      <p:sp>
        <p:nvSpPr>
          <p:cNvPr id="11" name="Text 8"/>
          <p:cNvSpPr txBox="1"/>
          <p:nvPr/>
        </p:nvSpPr>
        <p:spPr>
          <a:xfrm>
            <a:off x="4389120" y="1554480"/>
            <a:ext cx="1828800" cy="411480"/>
          </a:xfrm>
          <a:prstGeom prst="rect">
            <a:avLst/>
          </a:prstGeom>
          <a:noFill/>
          <a:ln/>
        </p:spPr>
        <p:txBody>
          <a:bodyPr wrap="square" lIns="635" tIns="635" rIns="635" bIns="635" rtlCol="0" anchor="t"/>
          <a:lstStyle/>
          <a:p>
            <a:pPr indent="0" marL="0">
              <a:buNone/>
            </a:pPr>
            <a:r>
              <a:rPr lang="en-US" sz="1000" dirty="0">
                <a:solidFill>
                  <a:schemeClr val="accent6"/>
                </a:solidFill>
                <a:latin typeface="Calibri" pitchFamily="34" charset="0"/>
                <a:ea typeface="Calibri" pitchFamily="34" charset="-122"/>
                <a:cs typeface="Calibri" pitchFamily="34" charset="-120"/>
              </a:rPr>
              <a:t>No / paused: allow, nothing held</a:t>
            </a:r>
            <a:endParaRPr lang="en-US" sz="1000" dirty="0"/>
          </a:p>
        </p:txBody>
      </p:sp>
      <p:sp>
        <p:nvSpPr>
          <p:cNvPr id="12" name="Text 9"/>
          <p:cNvSpPr txBox="1"/>
          <p:nvPr/>
        </p:nvSpPr>
        <p:spPr>
          <a:xfrm>
            <a:off x="457200" y="1874520"/>
            <a:ext cx="3657600" cy="292608"/>
          </a:xfrm>
          <a:prstGeom prst="rect">
            <a:avLst/>
          </a:prstGeom>
          <a:noFill/>
          <a:ln/>
        </p:spPr>
        <p:txBody>
          <a:bodyPr wrap="square" lIns="635" tIns="635" rIns="635" bIns="635"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Decision engine, in order</a:t>
            </a:r>
            <a:endParaRPr lang="en-US" sz="1200" dirty="0"/>
          </a:p>
        </p:txBody>
      </p:sp>
      <p:sp>
        <p:nvSpPr>
          <p:cNvPr id="13" name="F2_0"/>
          <p:cNvSpPr/>
          <p:nvPr/>
        </p:nvSpPr>
        <p:spPr>
          <a:xfrm>
            <a:off x="457200" y="2194560"/>
            <a:ext cx="1554480" cy="640080"/>
          </a:xfrm>
          <a:prstGeom prst="roundRect">
            <a:avLst>
              <a:gd name="adj" fmla="val 11429"/>
            </a:avLst>
          </a:prstGeom>
          <a:solidFill>
            <a:schemeClr val="bg1"/>
          </a:solidFill>
          <a:ln w="12700">
            <a:solidFill>
              <a:schemeClr val="accent2"/>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1 Your allow rules</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(apps, calls, priority)</a:t>
            </a:r>
            <a:endParaRPr lang="en-US" sz="1000" dirty="0"/>
          </a:p>
        </p:txBody>
      </p:sp>
      <p:sp>
        <p:nvSpPr>
          <p:cNvPr id="14" name="Shape 11"/>
          <p:cNvSpPr/>
          <p:nvPr/>
        </p:nvSpPr>
        <p:spPr>
          <a:xfrm>
            <a:off x="2011680" y="2514600"/>
            <a:ext cx="114300" cy="0"/>
          </a:xfrm>
          <a:prstGeom prst="line">
            <a:avLst/>
          </a:prstGeom>
          <a:noFill/>
          <a:ln w="19050">
            <a:solidFill>
              <a:schemeClr val="accent6"/>
            </a:solidFill>
            <a:prstDash val="solid"/>
            <a:tailEnd type="triangle"/>
          </a:ln>
        </p:spPr>
      </p:sp>
      <p:sp>
        <p:nvSpPr>
          <p:cNvPr id="15" name="F2_1"/>
          <p:cNvSpPr/>
          <p:nvPr/>
        </p:nvSpPr>
        <p:spPr>
          <a:xfrm>
            <a:off x="2125980" y="2194560"/>
            <a:ext cx="1554480" cy="640080"/>
          </a:xfrm>
          <a:prstGeom prst="roundRect">
            <a:avLst>
              <a:gd name="adj" fmla="val 11429"/>
            </a:avLst>
          </a:prstGeom>
          <a:solidFill>
            <a:schemeClr val="bg1"/>
          </a:solidFill>
          <a:ln w="12700">
            <a:solidFill>
              <a:schemeClr val="accent2"/>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2 Safety rules</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(OTP, security, urgent)</a:t>
            </a:r>
            <a:endParaRPr lang="en-US" sz="1000" dirty="0"/>
          </a:p>
        </p:txBody>
      </p:sp>
      <p:sp>
        <p:nvSpPr>
          <p:cNvPr id="16" name="Shape 13"/>
          <p:cNvSpPr/>
          <p:nvPr/>
        </p:nvSpPr>
        <p:spPr>
          <a:xfrm>
            <a:off x="3680460" y="2514600"/>
            <a:ext cx="114300" cy="0"/>
          </a:xfrm>
          <a:prstGeom prst="line">
            <a:avLst/>
          </a:prstGeom>
          <a:noFill/>
          <a:ln w="19050">
            <a:solidFill>
              <a:schemeClr val="accent6"/>
            </a:solidFill>
            <a:prstDash val="solid"/>
            <a:tailEnd type="triangle"/>
          </a:ln>
        </p:spPr>
      </p:sp>
      <p:sp>
        <p:nvSpPr>
          <p:cNvPr id="17" name="F2_2"/>
          <p:cNvSpPr/>
          <p:nvPr/>
        </p:nvSpPr>
        <p:spPr>
          <a:xfrm>
            <a:off x="3794760" y="2194560"/>
            <a:ext cx="1554480" cy="640080"/>
          </a:xfrm>
          <a:prstGeom prst="roundRect">
            <a:avLst>
              <a:gd name="adj" fmla="val 11429"/>
            </a:avLst>
          </a:prstGeom>
          <a:solidFill>
            <a:schemeClr val="bg1"/>
          </a:solidFill>
          <a:ln w="12700">
            <a:solidFill>
              <a:schemeClr val="accent2"/>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3 Your hold rules</a:t>
            </a:r>
            <a:endParaRPr lang="en-US" sz="1000" dirty="0"/>
          </a:p>
        </p:txBody>
      </p:sp>
      <p:sp>
        <p:nvSpPr>
          <p:cNvPr id="18" name="Shape 15"/>
          <p:cNvSpPr/>
          <p:nvPr/>
        </p:nvSpPr>
        <p:spPr>
          <a:xfrm>
            <a:off x="5349240" y="2514600"/>
            <a:ext cx="114300" cy="0"/>
          </a:xfrm>
          <a:prstGeom prst="line">
            <a:avLst/>
          </a:prstGeom>
          <a:noFill/>
          <a:ln w="19050">
            <a:solidFill>
              <a:schemeClr val="accent6"/>
            </a:solidFill>
            <a:prstDash val="solid"/>
            <a:tailEnd type="triangle"/>
          </a:ln>
        </p:spPr>
      </p:sp>
      <p:sp>
        <p:nvSpPr>
          <p:cNvPr id="19" name="F2_3"/>
          <p:cNvSpPr/>
          <p:nvPr/>
        </p:nvSpPr>
        <p:spPr>
          <a:xfrm>
            <a:off x="5463540" y="2194560"/>
            <a:ext cx="1554480" cy="640080"/>
          </a:xfrm>
          <a:prstGeom prst="roundRect">
            <a:avLst>
              <a:gd name="adj" fmla="val 11429"/>
            </a:avLst>
          </a:prstGeom>
          <a:solidFill>
            <a:schemeClr val="accent2"/>
          </a:solidFill>
          <a:ln w="12700">
            <a:solidFill>
              <a:schemeClr val="accent2"/>
            </a:solidFill>
          </a:ln>
        </p:spPr>
        <p:txBody>
          <a:bodyPr wrap="square" lIns="762" tIns="762" rIns="762" bIns="762"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4 Model + RiskPolicy</a:t>
            </a:r>
            <a:endParaRPr lang="en-US" sz="1000" dirty="0"/>
          </a:p>
          <a:p>
            <a:pPr algn="ctr" indent="0" marL="0">
              <a:buNone/>
            </a:pPr>
            <a:r>
              <a:rPr lang="en-US" sz="1000" b="1" dirty="0">
                <a:solidFill>
                  <a:schemeClr val="bg1"/>
                </a:solidFill>
                <a:latin typeface="Calibri" pitchFamily="34" charset="0"/>
                <a:ea typeface="Calibri" pitchFamily="34" charset="-122"/>
                <a:cs typeface="Calibri" pitchFamily="34" charset="-120"/>
              </a:rPr>
              <a:t>(or category fallback)</a:t>
            </a:r>
            <a:endParaRPr lang="en-US" sz="1000" dirty="0"/>
          </a:p>
        </p:txBody>
      </p:sp>
      <p:sp>
        <p:nvSpPr>
          <p:cNvPr id="20" name="Shape 17"/>
          <p:cNvSpPr/>
          <p:nvPr/>
        </p:nvSpPr>
        <p:spPr>
          <a:xfrm>
            <a:off x="7018020" y="2514600"/>
            <a:ext cx="114300" cy="0"/>
          </a:xfrm>
          <a:prstGeom prst="line">
            <a:avLst/>
          </a:prstGeom>
          <a:noFill/>
          <a:ln w="19050">
            <a:solidFill>
              <a:schemeClr val="accent6"/>
            </a:solidFill>
            <a:prstDash val="solid"/>
            <a:tailEnd type="triangle"/>
          </a:ln>
        </p:spPr>
      </p:sp>
      <p:sp>
        <p:nvSpPr>
          <p:cNvPr id="21" name="F2_4"/>
          <p:cNvSpPr/>
          <p:nvPr/>
        </p:nvSpPr>
        <p:spPr>
          <a:xfrm>
            <a:off x="7132320" y="2194560"/>
            <a:ext cx="1554480" cy="640080"/>
          </a:xfrm>
          <a:prstGeom prst="roundRect">
            <a:avLst>
              <a:gd name="adj" fmla="val 11429"/>
            </a:avLst>
          </a:prstGeom>
          <a:solidFill>
            <a:schemeClr val="bg1"/>
          </a:solidFill>
          <a:ln w="12700">
            <a:solidFill>
              <a:schemeClr val="accent2"/>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5 Guard layer</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(urgent words, burst,</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links, empty text)</a:t>
            </a:r>
            <a:endParaRPr lang="en-US" sz="1000" dirty="0"/>
          </a:p>
        </p:txBody>
      </p:sp>
      <p:sp>
        <p:nvSpPr>
          <p:cNvPr id="22" name="OutAllow"/>
          <p:cNvSpPr/>
          <p:nvPr/>
        </p:nvSpPr>
        <p:spPr>
          <a:xfrm>
            <a:off x="457200" y="3246120"/>
            <a:ext cx="2103120" cy="685800"/>
          </a:xfrm>
          <a:prstGeom prst="roundRect">
            <a:avLst>
              <a:gd name="adj" fmla="val 10667"/>
            </a:avLst>
          </a:prstGeom>
          <a:solidFill>
            <a:schemeClr val="accent3"/>
          </a:solidFill>
          <a:ln w="12700">
            <a:solidFill>
              <a:schemeClr val="accent3"/>
            </a:solidFill>
          </a:ln>
        </p:spPr>
        <p:txBody>
          <a:bodyPr wrap="square" lIns="762" tIns="762" rIns="762" bIns="762"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ALLOW (DELIVER)</a:t>
            </a:r>
            <a:endParaRPr lang="en-US" sz="1100" dirty="0"/>
          </a:p>
          <a:p>
            <a:pPr algn="ctr" indent="0" marL="0">
              <a:buNone/>
            </a:pPr>
            <a:r>
              <a:rPr lang="en-US" sz="1100" b="1" dirty="0">
                <a:solidFill>
                  <a:schemeClr val="bg1"/>
                </a:solidFill>
                <a:latin typeface="Calibri" pitchFamily="34" charset="0"/>
                <a:ea typeface="Calibri" pitchFamily="34" charset="-122"/>
                <a:cs typeface="Calibri" pitchFamily="34" charset="-120"/>
              </a:rPr>
              <a:t>nothing touched</a:t>
            </a:r>
            <a:endParaRPr lang="en-US" sz="1100" dirty="0"/>
          </a:p>
        </p:txBody>
      </p:sp>
      <p:sp>
        <p:nvSpPr>
          <p:cNvPr id="23" name="OutReview"/>
          <p:cNvSpPr/>
          <p:nvPr/>
        </p:nvSpPr>
        <p:spPr>
          <a:xfrm>
            <a:off x="2743200" y="3246120"/>
            <a:ext cx="2377440" cy="685800"/>
          </a:xfrm>
          <a:prstGeom prst="roundRect">
            <a:avLst>
              <a:gd name="adj" fmla="val 10667"/>
            </a:avLst>
          </a:prstGeom>
          <a:solidFill>
            <a:schemeClr val="accent4"/>
          </a:solidFill>
          <a:ln w="12700">
            <a:solidFill>
              <a:schemeClr val="accent4"/>
            </a:solidFill>
          </a:ln>
        </p:spPr>
        <p:txBody>
          <a:bodyPr wrap="square" lIns="762" tIns="762" rIns="762" bIns="762"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REVIEW</a:t>
            </a:r>
            <a:endParaRPr lang="en-US" sz="1100" dirty="0"/>
          </a:p>
          <a:p>
            <a:pPr algn="ctr" indent="0" marL="0">
              <a:buNone/>
            </a:pPr>
            <a:r>
              <a:rPr lang="en-US" sz="1100" b="1" dirty="0">
                <a:solidFill>
                  <a:schemeClr val="bg1"/>
                </a:solidFill>
                <a:latin typeface="Calibri" pitchFamily="34" charset="0"/>
                <a:ea typeface="Calibri" pitchFamily="34" charset="-122"/>
                <a:cs typeface="Calibri" pitchFamily="34" charset="-120"/>
              </a:rPr>
              <a:t>saved to queue; original</a:t>
            </a:r>
            <a:endParaRPr lang="en-US" sz="1100" dirty="0"/>
          </a:p>
          <a:p>
            <a:pPr algn="ctr" indent="0" marL="0">
              <a:buNone/>
            </a:pPr>
            <a:r>
              <a:rPr lang="en-US" sz="1100" b="1" dirty="0">
                <a:solidFill>
                  <a:schemeClr val="bg1"/>
                </a:solidFill>
                <a:latin typeface="Calibri" pitchFamily="34" charset="0"/>
                <a:ea typeface="Calibri" pitchFamily="34" charset="-122"/>
                <a:cs typeface="Calibri" pitchFamily="34" charset="-120"/>
              </a:rPr>
              <a:t>stays visible</a:t>
            </a:r>
            <a:endParaRPr lang="en-US" sz="1100" dirty="0"/>
          </a:p>
        </p:txBody>
      </p:sp>
      <p:sp>
        <p:nvSpPr>
          <p:cNvPr id="24" name="OutHold"/>
          <p:cNvSpPr/>
          <p:nvPr/>
        </p:nvSpPr>
        <p:spPr>
          <a:xfrm>
            <a:off x="5760720" y="3246120"/>
            <a:ext cx="2926080" cy="685800"/>
          </a:xfrm>
          <a:prstGeom prst="roundRect">
            <a:avLst>
              <a:gd name="adj" fmla="val 10667"/>
            </a:avLst>
          </a:prstGeom>
          <a:solidFill>
            <a:schemeClr val="accent1"/>
          </a:solidFill>
          <a:ln w="12700">
            <a:solidFill>
              <a:schemeClr val="accent1"/>
            </a:solidFill>
          </a:ln>
        </p:spPr>
        <p:txBody>
          <a:bodyPr wrap="square" lIns="762" tIns="762" rIns="762" bIns="762"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HOLD (DEFER / FILTER)</a:t>
            </a:r>
            <a:endParaRPr lang="en-US" sz="1100" dirty="0"/>
          </a:p>
          <a:p>
            <a:pPr algn="ctr" indent="0" marL="0">
              <a:buNone/>
            </a:pPr>
            <a:r>
              <a:rPr lang="en-US" sz="1100" b="1" dirty="0">
                <a:solidFill>
                  <a:schemeClr val="bg1"/>
                </a:solidFill>
                <a:latin typeface="Calibri" pitchFamily="34" charset="0"/>
                <a:ea typeface="Calibri" pitchFamily="34" charset="-122"/>
                <a:cs typeface="Calibri" pitchFamily="34" charset="-120"/>
              </a:rPr>
              <a:t>1 save to Room queue first</a:t>
            </a:r>
            <a:endParaRPr lang="en-US" sz="1100" dirty="0"/>
          </a:p>
        </p:txBody>
      </p:sp>
      <p:sp>
        <p:nvSpPr>
          <p:cNvPr id="25" name="Shape 22"/>
          <p:cNvSpPr/>
          <p:nvPr/>
        </p:nvSpPr>
        <p:spPr>
          <a:xfrm>
            <a:off x="1508760" y="2834640"/>
            <a:ext cx="0" cy="411480"/>
          </a:xfrm>
          <a:prstGeom prst="line">
            <a:avLst/>
          </a:prstGeom>
          <a:noFill/>
          <a:ln w="19050">
            <a:solidFill>
              <a:schemeClr val="accent6"/>
            </a:solidFill>
            <a:prstDash val="solid"/>
            <a:tailEnd type="triangle"/>
          </a:ln>
        </p:spPr>
      </p:sp>
      <p:sp>
        <p:nvSpPr>
          <p:cNvPr id="26" name="Shape 23"/>
          <p:cNvSpPr/>
          <p:nvPr/>
        </p:nvSpPr>
        <p:spPr>
          <a:xfrm>
            <a:off x="3931920" y="2834640"/>
            <a:ext cx="0" cy="411480"/>
          </a:xfrm>
          <a:prstGeom prst="line">
            <a:avLst/>
          </a:prstGeom>
          <a:noFill/>
          <a:ln w="19050">
            <a:solidFill>
              <a:schemeClr val="accent6"/>
            </a:solidFill>
            <a:prstDash val="solid"/>
            <a:tailEnd type="triangle"/>
          </a:ln>
        </p:spPr>
      </p:sp>
      <p:sp>
        <p:nvSpPr>
          <p:cNvPr id="27" name="Shape 24"/>
          <p:cNvSpPr/>
          <p:nvPr/>
        </p:nvSpPr>
        <p:spPr>
          <a:xfrm>
            <a:off x="7223760" y="2834640"/>
            <a:ext cx="0" cy="411480"/>
          </a:xfrm>
          <a:prstGeom prst="line">
            <a:avLst/>
          </a:prstGeom>
          <a:noFill/>
          <a:ln w="19050">
            <a:solidFill>
              <a:schemeClr val="accent6"/>
            </a:solidFill>
            <a:prstDash val="solid"/>
            <a:tailEnd type="triangle"/>
          </a:ln>
        </p:spPr>
      </p:sp>
      <p:sp>
        <p:nvSpPr>
          <p:cNvPr id="28" name="HoldCancel"/>
          <p:cNvSpPr/>
          <p:nvPr/>
        </p:nvSpPr>
        <p:spPr>
          <a:xfrm>
            <a:off x="5760720" y="4023360"/>
            <a:ext cx="1417320" cy="731520"/>
          </a:xfrm>
          <a:prstGeom prst="roundRect">
            <a:avLst>
              <a:gd name="adj" fmla="val 10000"/>
            </a:avLst>
          </a:prstGeom>
          <a:solidFill>
            <a:schemeClr val="bg2"/>
          </a:solidFill>
          <a:ln w="12700">
            <a:solidFill>
              <a:schemeClr val="accent1"/>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2 cancelNotification(key)</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if clearable and</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listener connected</a:t>
            </a:r>
            <a:endParaRPr lang="en-US" sz="1000" dirty="0"/>
          </a:p>
        </p:txBody>
      </p:sp>
      <p:sp>
        <p:nvSpPr>
          <p:cNvPr id="29" name="HoldConfirm"/>
          <p:cNvSpPr/>
          <p:nvPr/>
        </p:nvSpPr>
        <p:spPr>
          <a:xfrm>
            <a:off x="7315200" y="4023360"/>
            <a:ext cx="1371600" cy="731520"/>
          </a:xfrm>
          <a:prstGeom prst="roundRect">
            <a:avLst>
              <a:gd name="adj" fmla="val 10000"/>
            </a:avLst>
          </a:prstGeom>
          <a:solidFill>
            <a:schemeClr val="bg2"/>
          </a:solidFill>
          <a:ln w="12700">
            <a:solidFill>
              <a:schemeClr val="accent1"/>
            </a:solidFill>
          </a:ln>
        </p:spPr>
        <p:txBody>
          <a:bodyPr wrap="square" lIns="762" tIns="762" rIns="762" bIns="762"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3 Android confirms?</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yes: suppressed</a:t>
            </a:r>
            <a:endParaRPr lang="en-US" sz="1000" dirty="0"/>
          </a:p>
          <a:p>
            <a:pPr algn="ctr" indent="0" marL="0">
              <a:buNone/>
            </a:pPr>
            <a:r>
              <a:rPr lang="en-US" sz="1000" dirty="0">
                <a:solidFill>
                  <a:schemeClr val="tx1"/>
                </a:solidFill>
                <a:latin typeface="Calibri" pitchFamily="34" charset="0"/>
                <a:ea typeface="Calibri" pitchFamily="34" charset="-122"/>
                <a:cs typeface="Calibri" pitchFamily="34" charset="-120"/>
              </a:rPr>
              <a:t>no: flagged</a:t>
            </a:r>
            <a:endParaRPr lang="en-US" sz="1000" dirty="0"/>
          </a:p>
        </p:txBody>
      </p:sp>
      <p:sp>
        <p:nvSpPr>
          <p:cNvPr id="30" name="Shape 27"/>
          <p:cNvSpPr/>
          <p:nvPr/>
        </p:nvSpPr>
        <p:spPr>
          <a:xfrm>
            <a:off x="7178040" y="4389120"/>
            <a:ext cx="137160" cy="0"/>
          </a:xfrm>
          <a:prstGeom prst="line">
            <a:avLst/>
          </a:prstGeom>
          <a:noFill/>
          <a:ln w="19050">
            <a:solidFill>
              <a:schemeClr val="accent6"/>
            </a:solidFill>
            <a:prstDash val="solid"/>
            <a:tailEnd type="triangle"/>
          </a:ln>
        </p:spPr>
      </p:sp>
      <p:sp>
        <p:nvSpPr>
          <p:cNvPr id="31" name="Shape 28"/>
          <p:cNvSpPr/>
          <p:nvPr/>
        </p:nvSpPr>
        <p:spPr>
          <a:xfrm>
            <a:off x="7223760" y="3931920"/>
            <a:ext cx="0" cy="91440"/>
          </a:xfrm>
          <a:prstGeom prst="line">
            <a:avLst/>
          </a:prstGeom>
          <a:noFill/>
          <a:ln w="19050">
            <a:solidFill>
              <a:schemeClr val="accent6"/>
            </a:solidFill>
            <a:prstDash val="solid"/>
            <a:tailEnd type="triangle"/>
          </a:ln>
        </p:spPr>
      </p:sp>
      <p:sp>
        <p:nvSpPr>
          <p:cNvPr id="32" name="Text 29"/>
          <p:cNvSpPr txBox="1"/>
          <p:nvPr/>
        </p:nvSpPr>
        <p:spPr>
          <a:xfrm>
            <a:off x="457200" y="4160520"/>
            <a:ext cx="5120640" cy="548640"/>
          </a:xfrm>
          <a:prstGeom prst="rect">
            <a:avLst/>
          </a:prstGeom>
          <a:noFill/>
          <a:ln/>
        </p:spPr>
        <p:txBody>
          <a:bodyPr wrap="square" lIns="635" tIns="635" rIns="635" bIns="635"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Classification (rows 1-2) is separate from suppression (row 3). Cancellation is best effort and untested on a phone.</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Data flow and outcomes</a:t>
            </a:r>
            <a:endParaRPr lang="en-US" sz="2800" dirty="0"/>
          </a:p>
        </p:txBody>
      </p:sp>
      <p:graphicFrame>
        <p:nvGraphicFramePr>
          <p:cNvPr id="7" name="OutcomeTabl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188720"/>
                <a:gridCol w="3200400"/>
                <a:gridCol w="1828800"/>
                <a:gridCol w="2011680"/>
              </a:tblGrid>
              <a:tr h="3200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Stored in Room</a:t>
                      </a:r>
                      <a:endParaRPr lang="en-US" sz="12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Android action</a:t>
                      </a:r>
                      <a:endParaRPr lang="en-US" sz="12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r>
              <a:tr h="594360">
                <a:tc>
                  <a:txBody>
                    <a:bodyPr/>
                    <a:lstStyle/>
                    <a:p>
                      <a:pPr indent="0" marL="0">
                        <a:buNone/>
                      </a:pPr>
                      <a:r>
                        <a:rPr lang="en-US" sz="1100" b="1" dirty="0">
                          <a:solidFill>
                            <a:srgbClr val="1A9C94"/>
                          </a:solidFill>
                          <a:latin typeface="Calibri" pitchFamily="34" charset="0"/>
                          <a:ea typeface="Calibri" pitchFamily="34" charset="-122"/>
                          <a:cs typeface="Calibri" pitchFamily="34" charset="-120"/>
                        </a:rPr>
                        <a:t>ALLOW</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Allow rule, safety evidence, or model sees high importance/urgency</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Decision row (no text)</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B7791F"/>
                          </a:solidFill>
                          <a:latin typeface="Calibri" pitchFamily="34" charset="0"/>
                          <a:ea typeface="Calibri" pitchFamily="34" charset="-122"/>
                          <a:cs typeface="Calibri" pitchFamily="34" charset="-120"/>
                        </a:rPr>
                        <a:t>REVIEW</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Low confidence, possibly important, link-only or very short, or guard fired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Decision row + queue item</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None; original stays visible</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233E7A"/>
                          </a:solidFill>
                          <a:latin typeface="Calibri" pitchFamily="34" charset="0"/>
                          <a:ea typeface="Calibri" pitchFamily="34" charset="-122"/>
                          <a:cs typeface="Calibri" pitchFamily="34" charset="-120"/>
                        </a:rPr>
                        <a:t>HOLD (DEFER)</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Confident distraction, or your hold rule, and no guard applies</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Decision row + queue item (saved first)</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cancelNotification(key), if allowed; confirmation awaited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233E7A"/>
                          </a:solidFill>
                          <a:latin typeface="Calibri" pitchFamily="34" charset="0"/>
                          <a:ea typeface="Calibri" pitchFamily="34" charset="-122"/>
                          <a:cs typeface="Calibri" pitchFamily="34" charset="-120"/>
                        </a:rPr>
                        <a:t>HOLD (FILTER)</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Promotion and your 'filter promotions' setting is on</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Decision row + queue item</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Same as DEFER</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6B7488"/>
                          </a:solidFill>
                          <a:latin typeface="Calibri" pitchFamily="34" charset="0"/>
                          <a:ea typeface="Calibri" pitchFamily="34" charset="-122"/>
                          <a:cs typeface="Calibri" pitchFamily="34" charset="-120"/>
                        </a:rPr>
                        <a:t>IGNORE</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Own app, ongoing, group summary, or no session</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4206240"/>
            <a:ext cx="8229600" cy="502920"/>
          </a:xfrm>
          <a:prstGeom prst="rect">
            <a:avLst/>
          </a:prstGeom>
          <a:noFill/>
          <a:ln/>
        </p:spPr>
        <p:txBody>
          <a:bodyPr wrap="square" lIns="635" tIns="635" rIns="635" bIns="635"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After the session: queue is shown in the Queue tab and Before You Open; opening, delaying, dismissing or correcting an item is saved as feedback and shifts future scores by a capped amount.</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Key features by user journey</a:t>
            </a:r>
            <a:endParaRPr lang="en-US" sz="2800" dirty="0"/>
          </a:p>
        </p:txBody>
      </p:sp>
      <p:sp>
        <p:nvSpPr>
          <p:cNvPr id="4" name="Journey1"/>
          <p:cNvSpPr/>
          <p:nvPr/>
        </p:nvSpPr>
        <p:spPr>
          <a:xfrm>
            <a:off x="457200" y="1005840"/>
            <a:ext cx="2651760" cy="3017520"/>
          </a:xfrm>
          <a:prstGeom prst="roundRect">
            <a:avLst>
              <a:gd name="adj" fmla="val 2759"/>
            </a:avLst>
          </a:prstGeom>
          <a:solidFill>
            <a:schemeClr val="bg2"/>
          </a:solidFill>
          <a:ln w="12700">
            <a:solidFill>
              <a:schemeClr val="bg2"/>
            </a:solidFill>
            <a:prstDash val="solid"/>
          </a:ln>
        </p:spPr>
      </p:sp>
      <p:sp>
        <p:nvSpPr>
          <p:cNvPr id="5" name="Text 2"/>
          <p:cNvSpPr txBox="1"/>
          <p:nvPr/>
        </p:nvSpPr>
        <p:spPr>
          <a:xfrm>
            <a:off x="594360" y="1078992"/>
            <a:ext cx="2377440" cy="365760"/>
          </a:xfrm>
          <a:prstGeom prst="rect">
            <a:avLst/>
          </a:prstGeom>
          <a:noFill/>
          <a:ln/>
        </p:spPr>
        <p:txBody>
          <a:bodyPr wrap="square" lIns="635" tIns="635" rIns="635" bIns="635"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Focus</a:t>
            </a:r>
            <a:endParaRPr lang="en-US" sz="1600" dirty="0"/>
          </a:p>
        </p:txBody>
      </p:sp>
      <p:sp>
        <p:nvSpPr>
          <p:cNvPr id="6" name="Text 3"/>
          <p:cNvSpPr txBox="1"/>
          <p:nvPr/>
        </p:nvSpPr>
        <p:spPr>
          <a:xfrm>
            <a:off x="594360" y="1481328"/>
            <a:ext cx="2423160" cy="246888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Focus timer + sessions (foreground service)</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Home dashboard</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Insights: daily/weekly/monthly reports, focus score</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Profile: goals, streaks, energy check-ins</a:t>
            </a:r>
            <a:endParaRPr lang="en-US" sz="1400" dirty="0"/>
          </a:p>
        </p:txBody>
      </p:sp>
      <p:sp>
        <p:nvSpPr>
          <p:cNvPr id="7" name="Journey2"/>
          <p:cNvSpPr/>
          <p:nvPr/>
        </p:nvSpPr>
        <p:spPr>
          <a:xfrm>
            <a:off x="3246120" y="1005840"/>
            <a:ext cx="2651760" cy="3017520"/>
          </a:xfrm>
          <a:prstGeom prst="roundRect">
            <a:avLst>
              <a:gd name="adj" fmla="val 2759"/>
            </a:avLst>
          </a:prstGeom>
          <a:solidFill>
            <a:schemeClr val="bg2"/>
          </a:solidFill>
          <a:ln w="12700">
            <a:solidFill>
              <a:schemeClr val="bg2"/>
            </a:solidFill>
            <a:prstDash val="solid"/>
          </a:ln>
        </p:spPr>
      </p:sp>
      <p:sp>
        <p:nvSpPr>
          <p:cNvPr id="8" name="Text 5"/>
          <p:cNvSpPr txBox="1"/>
          <p:nvPr/>
        </p:nvSpPr>
        <p:spPr>
          <a:xfrm>
            <a:off x="3383280" y="1078992"/>
            <a:ext cx="2377440" cy="365760"/>
          </a:xfrm>
          <a:prstGeom prst="rect">
            <a:avLst/>
          </a:prstGeom>
          <a:noFill/>
          <a:ln/>
        </p:spPr>
        <p:txBody>
          <a:bodyPr wrap="square" lIns="635" tIns="635" rIns="635" bIns="635"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Notification handling</a:t>
            </a:r>
            <a:endParaRPr lang="en-US" sz="1600" dirty="0"/>
          </a:p>
        </p:txBody>
      </p:sp>
      <p:sp>
        <p:nvSpPr>
          <p:cNvPr id="9" name="Text 6"/>
          <p:cNvSpPr txBox="1"/>
          <p:nvPr/>
        </p:nvSpPr>
        <p:spPr>
          <a:xfrm>
            <a:off x="3383280" y="1481328"/>
            <a:ext cx="2423160" cy="246888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Notification access + listener</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AI Mode (on-device classifier)</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Queue and Before You Open (explanations)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Rules: apps, senders, keywords, categories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Link analysis (local, never fetched)</a:t>
            </a:r>
            <a:endParaRPr lang="en-US" sz="1400" dirty="0"/>
          </a:p>
        </p:txBody>
      </p:sp>
      <p:sp>
        <p:nvSpPr>
          <p:cNvPr id="10" name="Journey3"/>
          <p:cNvSpPr/>
          <p:nvPr/>
        </p:nvSpPr>
        <p:spPr>
          <a:xfrm>
            <a:off x="6035040" y="1005840"/>
            <a:ext cx="2651760" cy="3017520"/>
          </a:xfrm>
          <a:prstGeom prst="roundRect">
            <a:avLst>
              <a:gd name="adj" fmla="val 2759"/>
            </a:avLst>
          </a:prstGeom>
          <a:solidFill>
            <a:schemeClr val="bg2"/>
          </a:solidFill>
          <a:ln w="12700">
            <a:solidFill>
              <a:schemeClr val="bg2"/>
            </a:solidFill>
            <a:prstDash val="solid"/>
          </a:ln>
        </p:spPr>
      </p:sp>
      <p:sp>
        <p:nvSpPr>
          <p:cNvPr id="11" name="Text 8"/>
          <p:cNvSpPr txBox="1"/>
          <p:nvPr/>
        </p:nvSpPr>
        <p:spPr>
          <a:xfrm>
            <a:off x="6172200" y="1078992"/>
            <a:ext cx="2377440" cy="365760"/>
          </a:xfrm>
          <a:prstGeom prst="rect">
            <a:avLst/>
          </a:prstGeom>
          <a:noFill/>
          <a:ln/>
        </p:spPr>
        <p:txBody>
          <a:bodyPr wrap="square" lIns="635" tIns="635" rIns="635" bIns="635"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Trust and control</a:t>
            </a:r>
            <a:endParaRPr lang="en-US" sz="1600" dirty="0"/>
          </a:p>
        </p:txBody>
      </p:sp>
      <p:sp>
        <p:nvSpPr>
          <p:cNvPr id="12" name="Text 9"/>
          <p:cNvSpPr txBox="1"/>
          <p:nvPr/>
        </p:nvSpPr>
        <p:spPr>
          <a:xfrm>
            <a:off x="6172200" y="1481328"/>
            <a:ext cx="2423160" cy="246888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Feedback and learned preferences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Privacy center: delete text, feedback, all data</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Access guide + onboarding</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Listener diagnostics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Demo mode</a:t>
            </a:r>
            <a:endParaRPr lang="en-US" sz="1400" dirty="0"/>
          </a:p>
        </p:txBody>
      </p:sp>
      <p:sp>
        <p:nvSpPr>
          <p:cNvPr id="13" name="Text 10"/>
          <p:cNvSpPr/>
          <p:nvPr/>
        </p:nvSpPr>
        <p:spPr>
          <a:xfrm>
            <a:off x="457200" y="4206240"/>
            <a:ext cx="2194560" cy="219456"/>
          </a:xfrm>
          <a:prstGeom prst="roundRect">
            <a:avLst>
              <a:gd name="adj" fmla="val 41667"/>
            </a:avLst>
          </a:prstGeom>
          <a:solidFill>
            <a:schemeClr val="accent3"/>
          </a:solid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Implemented in code</a:t>
            </a:r>
            <a:endParaRPr lang="en-US" sz="1000" dirty="0"/>
          </a:p>
        </p:txBody>
      </p:sp>
      <p:sp>
        <p:nvSpPr>
          <p:cNvPr id="14" name="Text 11"/>
          <p:cNvSpPr/>
          <p:nvPr/>
        </p:nvSpPr>
        <p:spPr>
          <a:xfrm>
            <a:off x="2788920" y="4206240"/>
            <a:ext cx="2377440" cy="219456"/>
          </a:xfrm>
          <a:prstGeom prst="roundRect">
            <a:avLst>
              <a:gd name="adj" fmla="val 41667"/>
            </a:avLst>
          </a:prstGeom>
          <a:solidFill>
            <a:schemeClr val="accent5"/>
          </a:solid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UI not run on a device</a:t>
            </a:r>
            <a:endParaRPr lang="en-US" sz="1000" dirty="0"/>
          </a:p>
        </p:txBody>
      </p:sp>
      <p:sp>
        <p:nvSpPr>
          <p:cNvPr id="15" name="Text 12"/>
          <p:cNvSpPr txBox="1"/>
          <p:nvPr/>
        </p:nvSpPr>
        <p:spPr>
          <a:xfrm>
            <a:off x="5303520" y="4114800"/>
            <a:ext cx="3383280" cy="502920"/>
          </a:xfrm>
          <a:prstGeom prst="rect">
            <a:avLst/>
          </a:prstGeom>
          <a:noFill/>
          <a:ln/>
        </p:spPr>
        <p:txBody>
          <a:bodyPr wrap="square" lIns="635" tIns="635" rIns="635" bIns="635"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Phone-level behaviour of every feature is untested; see testing slide.</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Application screens</a:t>
            </a:r>
            <a:endParaRPr lang="en-US" sz="2800" dirty="0"/>
          </a:p>
        </p:txBody>
      </p:sp>
      <p:sp>
        <p:nvSpPr>
          <p:cNvPr id="4" name="Placeholder_Home"/>
          <p:cNvSpPr/>
          <p:nvPr/>
        </p:nvSpPr>
        <p:spPr>
          <a:xfrm>
            <a:off x="457200" y="1005840"/>
            <a:ext cx="1463040" cy="2560320"/>
          </a:xfrm>
          <a:prstGeom prst="roundRect">
            <a:avLst>
              <a:gd name="adj" fmla="val 7500"/>
            </a:avLst>
          </a:prstGeom>
          <a:solidFill>
            <a:schemeClr val="bg2"/>
          </a:solidFill>
          <a:ln w="12700">
            <a:solidFill>
              <a:schemeClr val="accent6"/>
            </a:solidFill>
            <a:prstDash val="dash"/>
          </a:ln>
        </p:spPr>
      </p:sp>
      <p:sp>
        <p:nvSpPr>
          <p:cNvPr id="5" name="Text 2"/>
          <p:cNvSpPr txBox="1"/>
          <p:nvPr/>
        </p:nvSpPr>
        <p:spPr>
          <a:xfrm>
            <a:off x="457200" y="1828800"/>
            <a:ext cx="1463040" cy="731520"/>
          </a:xfrm>
          <a:prstGeom prst="rect">
            <a:avLst/>
          </a:prstGeom>
          <a:noFill/>
          <a:ln/>
        </p:spPr>
        <p:txBody>
          <a:bodyPr wrap="square" lIns="0" tIns="0" rIns="0" bIns="0" rtlCol="0" anchor="ctr"/>
          <a:lstStyle/>
          <a:p>
            <a:pPr algn="ctr" indent="0" marL="0">
              <a:buNone/>
            </a:pPr>
            <a:r>
              <a:rPr lang="en-US" sz="1200" dirty="0">
                <a:solidFill>
                  <a:srgbClr val="6B7488"/>
                </a:solidFill>
                <a:latin typeface="Calibri" pitchFamily="34" charset="0"/>
                <a:ea typeface="Calibri" pitchFamily="34" charset="-122"/>
                <a:cs typeface="Calibri" pitchFamily="34" charset="-120"/>
              </a:rPr>
              <a:t>Screenshot</a:t>
            </a:r>
            <a:endParaRPr lang="en-US" sz="1200" dirty="0"/>
          </a:p>
          <a:p>
            <a:pPr algn="ctr" indent="0" marL="0">
              <a:buNone/>
            </a:pPr>
            <a:r>
              <a:rPr lang="en-US" sz="1200" dirty="0">
                <a:solidFill>
                  <a:srgbClr val="6B7488"/>
                </a:solidFill>
                <a:latin typeface="Calibri" pitchFamily="34" charset="0"/>
                <a:ea typeface="Calibri" pitchFamily="34" charset="-122"/>
                <a:cs typeface="Calibri" pitchFamily="34" charset="-120"/>
              </a:rPr>
              <a:t>placeholder</a:t>
            </a:r>
            <a:endParaRPr lang="en-US" sz="1200" dirty="0"/>
          </a:p>
        </p:txBody>
      </p:sp>
      <p:sp>
        <p:nvSpPr>
          <p:cNvPr id="6" name="Text 3"/>
          <p:cNvSpPr txBox="1"/>
          <p:nvPr/>
        </p:nvSpPr>
        <p:spPr>
          <a:xfrm>
            <a:off x="457200" y="3639312"/>
            <a:ext cx="1463040" cy="320040"/>
          </a:xfrm>
          <a:prstGeom prst="rect">
            <a:avLst/>
          </a:prstGeom>
          <a:noFill/>
          <a:ln/>
        </p:spPr>
        <p:txBody>
          <a:bodyPr wrap="square" lIns="635" tIns="635" rIns="635" bIns="635" rtlCol="0" anchor="t"/>
          <a:lstStyle/>
          <a:p>
            <a:pPr algn="ctr" indent="0" marL="0">
              <a:buNone/>
            </a:pPr>
            <a:r>
              <a:rPr lang="en-US" sz="1400" b="1" dirty="0">
                <a:solidFill>
                  <a:schemeClr val="accent1"/>
                </a:solidFill>
                <a:latin typeface="Calibri" pitchFamily="34" charset="0"/>
                <a:ea typeface="Calibri" pitchFamily="34" charset="-122"/>
                <a:cs typeface="Calibri" pitchFamily="34" charset="-120"/>
              </a:rPr>
              <a:t>Home</a:t>
            </a:r>
            <a:endParaRPr lang="en-US" sz="1400" dirty="0"/>
          </a:p>
        </p:txBody>
      </p:sp>
      <p:sp>
        <p:nvSpPr>
          <p:cNvPr id="7" name="Text 4"/>
          <p:cNvSpPr txBox="1"/>
          <p:nvPr/>
        </p:nvSpPr>
        <p:spPr>
          <a:xfrm>
            <a:off x="457200" y="3931920"/>
            <a:ext cx="1463040" cy="457200"/>
          </a:xfrm>
          <a:prstGeom prst="rect">
            <a:avLst/>
          </a:prstGeom>
          <a:noFill/>
          <a:ln/>
        </p:spPr>
        <p:txBody>
          <a:bodyPr wrap="square" lIns="635" tIns="635" rIns="635" bIns="635" rtlCol="0" anchor="t"/>
          <a:lstStyle/>
          <a:p>
            <a:pPr algn="ctr" indent="0" marL="0">
              <a:buNone/>
            </a:pPr>
            <a:r>
              <a:rPr lang="en-US" sz="1100" dirty="0">
                <a:solidFill>
                  <a:schemeClr val="accent6"/>
                </a:solidFill>
                <a:latin typeface="Calibri" pitchFamily="34" charset="0"/>
                <a:ea typeface="Calibri" pitchFamily="34" charset="-122"/>
                <a:cs typeface="Calibri" pitchFamily="34" charset="-120"/>
              </a:rPr>
              <a:t>Dashboard and today's focus</a:t>
            </a:r>
            <a:endParaRPr lang="en-US" sz="1100" dirty="0"/>
          </a:p>
        </p:txBody>
      </p:sp>
      <p:sp>
        <p:nvSpPr>
          <p:cNvPr id="8" name="Placeholder_Focus"/>
          <p:cNvSpPr/>
          <p:nvPr/>
        </p:nvSpPr>
        <p:spPr>
          <a:xfrm>
            <a:off x="2121408" y="1005840"/>
            <a:ext cx="1463040" cy="2560320"/>
          </a:xfrm>
          <a:prstGeom prst="roundRect">
            <a:avLst>
              <a:gd name="adj" fmla="val 7500"/>
            </a:avLst>
          </a:prstGeom>
          <a:solidFill>
            <a:schemeClr val="bg2"/>
          </a:solidFill>
          <a:ln w="12700">
            <a:solidFill>
              <a:schemeClr val="accent6"/>
            </a:solidFill>
            <a:prstDash val="dash"/>
          </a:ln>
        </p:spPr>
      </p:sp>
      <p:sp>
        <p:nvSpPr>
          <p:cNvPr id="9" name="Text 6"/>
          <p:cNvSpPr txBox="1"/>
          <p:nvPr/>
        </p:nvSpPr>
        <p:spPr>
          <a:xfrm>
            <a:off x="2121408" y="1828800"/>
            <a:ext cx="1463040" cy="731520"/>
          </a:xfrm>
          <a:prstGeom prst="rect">
            <a:avLst/>
          </a:prstGeom>
          <a:noFill/>
          <a:ln/>
        </p:spPr>
        <p:txBody>
          <a:bodyPr wrap="square" lIns="0" tIns="0" rIns="0" bIns="0" rtlCol="0" anchor="ctr"/>
          <a:lstStyle/>
          <a:p>
            <a:pPr algn="ctr" indent="0" marL="0">
              <a:buNone/>
            </a:pPr>
            <a:r>
              <a:rPr lang="en-US" sz="1200" dirty="0">
                <a:solidFill>
                  <a:srgbClr val="6B7488"/>
                </a:solidFill>
                <a:latin typeface="Calibri" pitchFamily="34" charset="0"/>
                <a:ea typeface="Calibri" pitchFamily="34" charset="-122"/>
                <a:cs typeface="Calibri" pitchFamily="34" charset="-120"/>
              </a:rPr>
              <a:t>Screenshot</a:t>
            </a:r>
            <a:endParaRPr lang="en-US" sz="1200" dirty="0"/>
          </a:p>
          <a:p>
            <a:pPr algn="ctr" indent="0" marL="0">
              <a:buNone/>
            </a:pPr>
            <a:r>
              <a:rPr lang="en-US" sz="1200" dirty="0">
                <a:solidFill>
                  <a:srgbClr val="6B7488"/>
                </a:solidFill>
                <a:latin typeface="Calibri" pitchFamily="34" charset="0"/>
                <a:ea typeface="Calibri" pitchFamily="34" charset="-122"/>
                <a:cs typeface="Calibri" pitchFamily="34" charset="-120"/>
              </a:rPr>
              <a:t>placeholder</a:t>
            </a:r>
            <a:endParaRPr lang="en-US" sz="1200" dirty="0"/>
          </a:p>
        </p:txBody>
      </p:sp>
      <p:sp>
        <p:nvSpPr>
          <p:cNvPr id="10" name="Text 7"/>
          <p:cNvSpPr txBox="1"/>
          <p:nvPr/>
        </p:nvSpPr>
        <p:spPr>
          <a:xfrm>
            <a:off x="2121408" y="3639312"/>
            <a:ext cx="1463040" cy="320040"/>
          </a:xfrm>
          <a:prstGeom prst="rect">
            <a:avLst/>
          </a:prstGeom>
          <a:noFill/>
          <a:ln/>
        </p:spPr>
        <p:txBody>
          <a:bodyPr wrap="square" lIns="635" tIns="635" rIns="635" bIns="635" rtlCol="0" anchor="t"/>
          <a:lstStyle/>
          <a:p>
            <a:pPr algn="ctr" indent="0" marL="0">
              <a:buNone/>
            </a:pPr>
            <a:r>
              <a:rPr lang="en-US" sz="1400" b="1" dirty="0">
                <a:solidFill>
                  <a:schemeClr val="accent1"/>
                </a:solidFill>
                <a:latin typeface="Calibri" pitchFamily="34" charset="0"/>
                <a:ea typeface="Calibri" pitchFamily="34" charset="-122"/>
                <a:cs typeface="Calibri" pitchFamily="34" charset="-120"/>
              </a:rPr>
              <a:t>Focus</a:t>
            </a:r>
            <a:endParaRPr lang="en-US" sz="1400" dirty="0"/>
          </a:p>
        </p:txBody>
      </p:sp>
      <p:sp>
        <p:nvSpPr>
          <p:cNvPr id="11" name="Text 8"/>
          <p:cNvSpPr txBox="1"/>
          <p:nvPr/>
        </p:nvSpPr>
        <p:spPr>
          <a:xfrm>
            <a:off x="2121408" y="3931920"/>
            <a:ext cx="1463040" cy="457200"/>
          </a:xfrm>
          <a:prstGeom prst="rect">
            <a:avLst/>
          </a:prstGeom>
          <a:noFill/>
          <a:ln/>
        </p:spPr>
        <p:txBody>
          <a:bodyPr wrap="square" lIns="635" tIns="635" rIns="635" bIns="635" rtlCol="0" anchor="t"/>
          <a:lstStyle/>
          <a:p>
            <a:pPr algn="ctr" indent="0" marL="0">
              <a:buNone/>
            </a:pPr>
            <a:r>
              <a:rPr lang="en-US" sz="1100" dirty="0">
                <a:solidFill>
                  <a:schemeClr val="accent6"/>
                </a:solidFill>
                <a:latin typeface="Calibri" pitchFamily="34" charset="0"/>
                <a:ea typeface="Calibri" pitchFamily="34" charset="-122"/>
                <a:cs typeface="Calibri" pitchFamily="34" charset="-120"/>
              </a:rPr>
              <a:t>Start and run a session</a:t>
            </a:r>
            <a:endParaRPr lang="en-US" sz="1100" dirty="0"/>
          </a:p>
        </p:txBody>
      </p:sp>
      <p:sp>
        <p:nvSpPr>
          <p:cNvPr id="12" name="Placeholder_Queue"/>
          <p:cNvSpPr/>
          <p:nvPr/>
        </p:nvSpPr>
        <p:spPr>
          <a:xfrm>
            <a:off x="3785616" y="1005840"/>
            <a:ext cx="1463040" cy="2560320"/>
          </a:xfrm>
          <a:prstGeom prst="roundRect">
            <a:avLst>
              <a:gd name="adj" fmla="val 7500"/>
            </a:avLst>
          </a:prstGeom>
          <a:solidFill>
            <a:schemeClr val="bg2"/>
          </a:solidFill>
          <a:ln w="12700">
            <a:solidFill>
              <a:schemeClr val="accent6"/>
            </a:solidFill>
            <a:prstDash val="dash"/>
          </a:ln>
        </p:spPr>
      </p:sp>
      <p:sp>
        <p:nvSpPr>
          <p:cNvPr id="13" name="Text 10"/>
          <p:cNvSpPr txBox="1"/>
          <p:nvPr/>
        </p:nvSpPr>
        <p:spPr>
          <a:xfrm>
            <a:off x="3785616" y="1828800"/>
            <a:ext cx="1463040" cy="731520"/>
          </a:xfrm>
          <a:prstGeom prst="rect">
            <a:avLst/>
          </a:prstGeom>
          <a:noFill/>
          <a:ln/>
        </p:spPr>
        <p:txBody>
          <a:bodyPr wrap="square" lIns="0" tIns="0" rIns="0" bIns="0" rtlCol="0" anchor="ctr"/>
          <a:lstStyle/>
          <a:p>
            <a:pPr algn="ctr" indent="0" marL="0">
              <a:buNone/>
            </a:pPr>
            <a:r>
              <a:rPr lang="en-US" sz="1200" dirty="0">
                <a:solidFill>
                  <a:srgbClr val="6B7488"/>
                </a:solidFill>
                <a:latin typeface="Calibri" pitchFamily="34" charset="0"/>
                <a:ea typeface="Calibri" pitchFamily="34" charset="-122"/>
                <a:cs typeface="Calibri" pitchFamily="34" charset="-120"/>
              </a:rPr>
              <a:t>Screenshot</a:t>
            </a:r>
            <a:endParaRPr lang="en-US" sz="1200" dirty="0"/>
          </a:p>
          <a:p>
            <a:pPr algn="ctr" indent="0" marL="0">
              <a:buNone/>
            </a:pPr>
            <a:r>
              <a:rPr lang="en-US" sz="1200" dirty="0">
                <a:solidFill>
                  <a:srgbClr val="6B7488"/>
                </a:solidFill>
                <a:latin typeface="Calibri" pitchFamily="34" charset="0"/>
                <a:ea typeface="Calibri" pitchFamily="34" charset="-122"/>
                <a:cs typeface="Calibri" pitchFamily="34" charset="-120"/>
              </a:rPr>
              <a:t>placeholder</a:t>
            </a:r>
            <a:endParaRPr lang="en-US" sz="1200" dirty="0"/>
          </a:p>
        </p:txBody>
      </p:sp>
      <p:sp>
        <p:nvSpPr>
          <p:cNvPr id="14" name="Text 11"/>
          <p:cNvSpPr txBox="1"/>
          <p:nvPr/>
        </p:nvSpPr>
        <p:spPr>
          <a:xfrm>
            <a:off x="3785616" y="3639312"/>
            <a:ext cx="1463040" cy="320040"/>
          </a:xfrm>
          <a:prstGeom prst="rect">
            <a:avLst/>
          </a:prstGeom>
          <a:noFill/>
          <a:ln/>
        </p:spPr>
        <p:txBody>
          <a:bodyPr wrap="square" lIns="635" tIns="635" rIns="635" bIns="635" rtlCol="0" anchor="t"/>
          <a:lstStyle/>
          <a:p>
            <a:pPr algn="ctr" indent="0" marL="0">
              <a:buNone/>
            </a:pPr>
            <a:r>
              <a:rPr lang="en-US" sz="1400" b="1" dirty="0">
                <a:solidFill>
                  <a:schemeClr val="accent1"/>
                </a:solidFill>
                <a:latin typeface="Calibri" pitchFamily="34" charset="0"/>
                <a:ea typeface="Calibri" pitchFamily="34" charset="-122"/>
                <a:cs typeface="Calibri" pitchFamily="34" charset="-120"/>
              </a:rPr>
              <a:t>Queue</a:t>
            </a:r>
            <a:endParaRPr lang="en-US" sz="1400" dirty="0"/>
          </a:p>
        </p:txBody>
      </p:sp>
      <p:sp>
        <p:nvSpPr>
          <p:cNvPr id="15" name="Text 12"/>
          <p:cNvSpPr txBox="1"/>
          <p:nvPr/>
        </p:nvSpPr>
        <p:spPr>
          <a:xfrm>
            <a:off x="3785616" y="3931920"/>
            <a:ext cx="1463040" cy="457200"/>
          </a:xfrm>
          <a:prstGeom prst="rect">
            <a:avLst/>
          </a:prstGeom>
          <a:noFill/>
          <a:ln/>
        </p:spPr>
        <p:txBody>
          <a:bodyPr wrap="square" lIns="635" tIns="635" rIns="635" bIns="635" rtlCol="0" anchor="t"/>
          <a:lstStyle/>
          <a:p>
            <a:pPr algn="ctr" indent="0" marL="0">
              <a:buNone/>
            </a:pPr>
            <a:r>
              <a:rPr lang="en-US" sz="1100" dirty="0">
                <a:solidFill>
                  <a:schemeClr val="accent6"/>
                </a:solidFill>
                <a:latin typeface="Calibri" pitchFamily="34" charset="0"/>
                <a:ea typeface="Calibri" pitchFamily="34" charset="-122"/>
                <a:cs typeface="Calibri" pitchFamily="34" charset="-120"/>
              </a:rPr>
              <a:t>Held and review items</a:t>
            </a:r>
            <a:endParaRPr lang="en-US" sz="1100" dirty="0"/>
          </a:p>
        </p:txBody>
      </p:sp>
      <p:sp>
        <p:nvSpPr>
          <p:cNvPr id="16" name="Placeholder_Insights"/>
          <p:cNvSpPr/>
          <p:nvPr/>
        </p:nvSpPr>
        <p:spPr>
          <a:xfrm>
            <a:off x="5449824" y="1005840"/>
            <a:ext cx="1463040" cy="2560320"/>
          </a:xfrm>
          <a:prstGeom prst="roundRect">
            <a:avLst>
              <a:gd name="adj" fmla="val 7500"/>
            </a:avLst>
          </a:prstGeom>
          <a:solidFill>
            <a:schemeClr val="bg2"/>
          </a:solidFill>
          <a:ln w="12700">
            <a:solidFill>
              <a:schemeClr val="accent6"/>
            </a:solidFill>
            <a:prstDash val="dash"/>
          </a:ln>
        </p:spPr>
      </p:sp>
      <p:sp>
        <p:nvSpPr>
          <p:cNvPr id="17" name="Text 14"/>
          <p:cNvSpPr txBox="1"/>
          <p:nvPr/>
        </p:nvSpPr>
        <p:spPr>
          <a:xfrm>
            <a:off x="5449824" y="1828800"/>
            <a:ext cx="1463040" cy="731520"/>
          </a:xfrm>
          <a:prstGeom prst="rect">
            <a:avLst/>
          </a:prstGeom>
          <a:noFill/>
          <a:ln/>
        </p:spPr>
        <p:txBody>
          <a:bodyPr wrap="square" lIns="0" tIns="0" rIns="0" bIns="0" rtlCol="0" anchor="ctr"/>
          <a:lstStyle/>
          <a:p>
            <a:pPr algn="ctr" indent="0" marL="0">
              <a:buNone/>
            </a:pPr>
            <a:r>
              <a:rPr lang="en-US" sz="1200" dirty="0">
                <a:solidFill>
                  <a:srgbClr val="6B7488"/>
                </a:solidFill>
                <a:latin typeface="Calibri" pitchFamily="34" charset="0"/>
                <a:ea typeface="Calibri" pitchFamily="34" charset="-122"/>
                <a:cs typeface="Calibri" pitchFamily="34" charset="-120"/>
              </a:rPr>
              <a:t>Screenshot</a:t>
            </a:r>
            <a:endParaRPr lang="en-US" sz="1200" dirty="0"/>
          </a:p>
          <a:p>
            <a:pPr algn="ctr" indent="0" marL="0">
              <a:buNone/>
            </a:pPr>
            <a:r>
              <a:rPr lang="en-US" sz="1200" dirty="0">
                <a:solidFill>
                  <a:srgbClr val="6B7488"/>
                </a:solidFill>
                <a:latin typeface="Calibri" pitchFamily="34" charset="0"/>
                <a:ea typeface="Calibri" pitchFamily="34" charset="-122"/>
                <a:cs typeface="Calibri" pitchFamily="34" charset="-120"/>
              </a:rPr>
              <a:t>placeholder</a:t>
            </a:r>
            <a:endParaRPr lang="en-US" sz="1200" dirty="0"/>
          </a:p>
        </p:txBody>
      </p:sp>
      <p:sp>
        <p:nvSpPr>
          <p:cNvPr id="18" name="Text 15"/>
          <p:cNvSpPr txBox="1"/>
          <p:nvPr/>
        </p:nvSpPr>
        <p:spPr>
          <a:xfrm>
            <a:off x="5449824" y="3639312"/>
            <a:ext cx="1463040" cy="320040"/>
          </a:xfrm>
          <a:prstGeom prst="rect">
            <a:avLst/>
          </a:prstGeom>
          <a:noFill/>
          <a:ln/>
        </p:spPr>
        <p:txBody>
          <a:bodyPr wrap="square" lIns="635" tIns="635" rIns="635" bIns="635" rtlCol="0" anchor="t"/>
          <a:lstStyle/>
          <a:p>
            <a:pPr algn="ctr" indent="0" marL="0">
              <a:buNone/>
            </a:pPr>
            <a:r>
              <a:rPr lang="en-US" sz="1400" b="1" dirty="0">
                <a:solidFill>
                  <a:schemeClr val="accent1"/>
                </a:solidFill>
                <a:latin typeface="Calibri" pitchFamily="34" charset="0"/>
                <a:ea typeface="Calibri" pitchFamily="34" charset="-122"/>
                <a:cs typeface="Calibri" pitchFamily="34" charset="-120"/>
              </a:rPr>
              <a:t>Insights</a:t>
            </a:r>
            <a:endParaRPr lang="en-US" sz="1400" dirty="0"/>
          </a:p>
        </p:txBody>
      </p:sp>
      <p:sp>
        <p:nvSpPr>
          <p:cNvPr id="19" name="Text 16"/>
          <p:cNvSpPr txBox="1"/>
          <p:nvPr/>
        </p:nvSpPr>
        <p:spPr>
          <a:xfrm>
            <a:off x="5449824" y="3931920"/>
            <a:ext cx="1463040" cy="457200"/>
          </a:xfrm>
          <a:prstGeom prst="rect">
            <a:avLst/>
          </a:prstGeom>
          <a:noFill/>
          <a:ln/>
        </p:spPr>
        <p:txBody>
          <a:bodyPr wrap="square" lIns="635" tIns="635" rIns="635" bIns="635" rtlCol="0" anchor="t"/>
          <a:lstStyle/>
          <a:p>
            <a:pPr algn="ctr" indent="0" marL="0">
              <a:buNone/>
            </a:pPr>
            <a:r>
              <a:rPr lang="en-US" sz="1100" dirty="0">
                <a:solidFill>
                  <a:schemeClr val="accent6"/>
                </a:solidFill>
                <a:latin typeface="Calibri" pitchFamily="34" charset="0"/>
                <a:ea typeface="Calibri" pitchFamily="34" charset="-122"/>
                <a:cs typeface="Calibri" pitchFamily="34" charset="-120"/>
              </a:rPr>
              <a:t>Reports and focus score</a:t>
            </a:r>
            <a:endParaRPr lang="en-US" sz="1100" dirty="0"/>
          </a:p>
        </p:txBody>
      </p:sp>
      <p:sp>
        <p:nvSpPr>
          <p:cNvPr id="20" name="Placeholder_Profile"/>
          <p:cNvSpPr/>
          <p:nvPr/>
        </p:nvSpPr>
        <p:spPr>
          <a:xfrm>
            <a:off x="7114032" y="1005840"/>
            <a:ext cx="1463040" cy="2560320"/>
          </a:xfrm>
          <a:prstGeom prst="roundRect">
            <a:avLst>
              <a:gd name="adj" fmla="val 7500"/>
            </a:avLst>
          </a:prstGeom>
          <a:solidFill>
            <a:schemeClr val="bg2"/>
          </a:solidFill>
          <a:ln w="12700">
            <a:solidFill>
              <a:schemeClr val="accent6"/>
            </a:solidFill>
            <a:prstDash val="dash"/>
          </a:ln>
        </p:spPr>
      </p:sp>
      <p:sp>
        <p:nvSpPr>
          <p:cNvPr id="21" name="Text 18"/>
          <p:cNvSpPr txBox="1"/>
          <p:nvPr/>
        </p:nvSpPr>
        <p:spPr>
          <a:xfrm>
            <a:off x="7114032" y="1828800"/>
            <a:ext cx="1463040" cy="731520"/>
          </a:xfrm>
          <a:prstGeom prst="rect">
            <a:avLst/>
          </a:prstGeom>
          <a:noFill/>
          <a:ln/>
        </p:spPr>
        <p:txBody>
          <a:bodyPr wrap="square" lIns="0" tIns="0" rIns="0" bIns="0" rtlCol="0" anchor="ctr"/>
          <a:lstStyle/>
          <a:p>
            <a:pPr algn="ctr" indent="0" marL="0">
              <a:buNone/>
            </a:pPr>
            <a:r>
              <a:rPr lang="en-US" sz="1200" dirty="0">
                <a:solidFill>
                  <a:srgbClr val="6B7488"/>
                </a:solidFill>
                <a:latin typeface="Calibri" pitchFamily="34" charset="0"/>
                <a:ea typeface="Calibri" pitchFamily="34" charset="-122"/>
                <a:cs typeface="Calibri" pitchFamily="34" charset="-120"/>
              </a:rPr>
              <a:t>Screenshot</a:t>
            </a:r>
            <a:endParaRPr lang="en-US" sz="1200" dirty="0"/>
          </a:p>
          <a:p>
            <a:pPr algn="ctr" indent="0" marL="0">
              <a:buNone/>
            </a:pPr>
            <a:r>
              <a:rPr lang="en-US" sz="1200" dirty="0">
                <a:solidFill>
                  <a:srgbClr val="6B7488"/>
                </a:solidFill>
                <a:latin typeface="Calibri" pitchFamily="34" charset="0"/>
                <a:ea typeface="Calibri" pitchFamily="34" charset="-122"/>
                <a:cs typeface="Calibri" pitchFamily="34" charset="-120"/>
              </a:rPr>
              <a:t>placeholder</a:t>
            </a:r>
            <a:endParaRPr lang="en-US" sz="1200" dirty="0"/>
          </a:p>
        </p:txBody>
      </p:sp>
      <p:sp>
        <p:nvSpPr>
          <p:cNvPr id="22" name="Text 19"/>
          <p:cNvSpPr txBox="1"/>
          <p:nvPr/>
        </p:nvSpPr>
        <p:spPr>
          <a:xfrm>
            <a:off x="7114032" y="3639312"/>
            <a:ext cx="1463040" cy="320040"/>
          </a:xfrm>
          <a:prstGeom prst="rect">
            <a:avLst/>
          </a:prstGeom>
          <a:noFill/>
          <a:ln/>
        </p:spPr>
        <p:txBody>
          <a:bodyPr wrap="square" lIns="635" tIns="635" rIns="635" bIns="635" rtlCol="0" anchor="t"/>
          <a:lstStyle/>
          <a:p>
            <a:pPr algn="ctr" indent="0" marL="0">
              <a:buNone/>
            </a:pPr>
            <a:r>
              <a:rPr lang="en-US" sz="1400" b="1" dirty="0">
                <a:solidFill>
                  <a:schemeClr val="accent1"/>
                </a:solidFill>
                <a:latin typeface="Calibri" pitchFamily="34" charset="0"/>
                <a:ea typeface="Calibri" pitchFamily="34" charset="-122"/>
                <a:cs typeface="Calibri" pitchFamily="34" charset="-120"/>
              </a:rPr>
              <a:t>Profile</a:t>
            </a:r>
            <a:endParaRPr lang="en-US" sz="1400" dirty="0"/>
          </a:p>
        </p:txBody>
      </p:sp>
      <p:sp>
        <p:nvSpPr>
          <p:cNvPr id="23" name="Text 20"/>
          <p:cNvSpPr txBox="1"/>
          <p:nvPr/>
        </p:nvSpPr>
        <p:spPr>
          <a:xfrm>
            <a:off x="7114032" y="3931920"/>
            <a:ext cx="1463040" cy="457200"/>
          </a:xfrm>
          <a:prstGeom prst="rect">
            <a:avLst/>
          </a:prstGeom>
          <a:noFill/>
          <a:ln/>
        </p:spPr>
        <p:txBody>
          <a:bodyPr wrap="square" lIns="635" tIns="635" rIns="635" bIns="635" rtlCol="0" anchor="t"/>
          <a:lstStyle/>
          <a:p>
            <a:pPr algn="ctr" indent="0" marL="0">
              <a:buNone/>
            </a:pPr>
            <a:r>
              <a:rPr lang="en-US" sz="1100" dirty="0">
                <a:solidFill>
                  <a:schemeClr val="accent6"/>
                </a:solidFill>
                <a:latin typeface="Calibri" pitchFamily="34" charset="0"/>
                <a:ea typeface="Calibri" pitchFamily="34" charset="-122"/>
                <a:cs typeface="Calibri" pitchFamily="34" charset="-120"/>
              </a:rPr>
              <a:t>Goals, rules, privacy</a:t>
            </a:r>
            <a:endParaRPr lang="en-US" sz="1100" dirty="0"/>
          </a:p>
        </p:txBody>
      </p:sp>
      <p:sp>
        <p:nvSpPr>
          <p:cNvPr id="24" name="Text 21"/>
          <p:cNvSpPr txBox="1"/>
          <p:nvPr/>
        </p:nvSpPr>
        <p:spPr>
          <a:xfrm>
            <a:off x="457200" y="4389120"/>
            <a:ext cx="8229600" cy="365760"/>
          </a:xfrm>
          <a:prstGeom prst="rect">
            <a:avLst/>
          </a:prstGeom>
          <a:noFill/>
          <a:ln/>
        </p:spPr>
        <p:txBody>
          <a:bodyPr wrap="square" lIns="635" tIns="635" rIns="635" bIns="635" rtlCol="0" anchor="t"/>
          <a:lstStyle/>
          <a:p>
            <a:pPr indent="0" marL="0">
              <a:buNone/>
            </a:pPr>
            <a:r>
              <a:rPr lang="en-US" sz="1100" dirty="0">
                <a:solidFill>
                  <a:schemeClr val="accent6"/>
                </a:solidFill>
                <a:latin typeface="Calibri" pitchFamily="34" charset="0"/>
                <a:ea typeface="Calibri" pitchFamily="34" charset="-122"/>
                <a:cs typeface="Calibri" pitchFamily="34" charset="-120"/>
              </a:rPr>
              <a:t>Also in the app: Before You Open (decision explanation), AI Mode, Rules, Privacy center, Learned preferences, Access guide.</a:t>
            </a:r>
            <a:endParaRPr lang="en-US" sz="11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Dataset, model and evaluation</a:t>
            </a:r>
            <a:endParaRPr lang="en-US" sz="2800" dirty="0"/>
          </a:p>
        </p:txBody>
      </p:sp>
      <p:sp>
        <p:nvSpPr>
          <p:cNvPr id="4" name="Stat1"/>
          <p:cNvSpPr/>
          <p:nvPr/>
        </p:nvSpPr>
        <p:spPr>
          <a:xfrm>
            <a:off x="457200" y="960120"/>
            <a:ext cx="2651760" cy="777240"/>
          </a:xfrm>
          <a:prstGeom prst="roundRect">
            <a:avLst>
              <a:gd name="adj" fmla="val 9412"/>
            </a:avLst>
          </a:prstGeom>
          <a:solidFill>
            <a:schemeClr val="bg2"/>
          </a:solidFill>
          <a:ln w="12700">
            <a:solidFill>
              <a:schemeClr val="bg2"/>
            </a:solidFill>
            <a:prstDash val="solid"/>
          </a:ln>
        </p:spPr>
      </p:sp>
      <p:sp>
        <p:nvSpPr>
          <p:cNvPr id="5" name="Text 2"/>
          <p:cNvSpPr txBox="1"/>
          <p:nvPr/>
        </p:nvSpPr>
        <p:spPr>
          <a:xfrm>
            <a:off x="548640" y="987552"/>
            <a:ext cx="1097280" cy="685800"/>
          </a:xfrm>
          <a:prstGeom prst="rect">
            <a:avLst/>
          </a:prstGeom>
          <a:noFill/>
          <a:ln/>
        </p:spPr>
        <p:txBody>
          <a:bodyPr wrap="square" lIns="635" tIns="635" rIns="635" bIns="635"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3,105</a:t>
            </a:r>
            <a:endParaRPr lang="en-US" sz="2800" dirty="0"/>
          </a:p>
        </p:txBody>
      </p:sp>
      <p:sp>
        <p:nvSpPr>
          <p:cNvPr id="6" name="Text 3"/>
          <p:cNvSpPr txBox="1"/>
          <p:nvPr/>
        </p:nvSpPr>
        <p:spPr>
          <a:xfrm>
            <a:off x="1645920" y="987552"/>
            <a:ext cx="1417320" cy="685800"/>
          </a:xfrm>
          <a:prstGeom prst="rect">
            <a:avLst/>
          </a:prstGeom>
          <a:noFill/>
          <a:ln/>
        </p:spPr>
        <p:txBody>
          <a:bodyPr wrap="square" lIns="635" tIns="635" rIns="635" bIns="635"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synthetic rows</a:t>
            </a:r>
            <a:endParaRPr lang="en-US" sz="1200" dirty="0"/>
          </a:p>
        </p:txBody>
      </p:sp>
      <p:sp>
        <p:nvSpPr>
          <p:cNvPr id="7" name="Stat2"/>
          <p:cNvSpPr/>
          <p:nvPr/>
        </p:nvSpPr>
        <p:spPr>
          <a:xfrm>
            <a:off x="3246120" y="960120"/>
            <a:ext cx="2651760" cy="777240"/>
          </a:xfrm>
          <a:prstGeom prst="roundRect">
            <a:avLst>
              <a:gd name="adj" fmla="val 9412"/>
            </a:avLst>
          </a:prstGeom>
          <a:solidFill>
            <a:schemeClr val="bg2"/>
          </a:solidFill>
          <a:ln w="12700">
            <a:solidFill>
              <a:schemeClr val="bg2"/>
            </a:solidFill>
            <a:prstDash val="solid"/>
          </a:ln>
        </p:spPr>
      </p:sp>
      <p:sp>
        <p:nvSpPr>
          <p:cNvPr id="8" name="Text 5"/>
          <p:cNvSpPr txBox="1"/>
          <p:nvPr/>
        </p:nvSpPr>
        <p:spPr>
          <a:xfrm>
            <a:off x="3337560" y="987552"/>
            <a:ext cx="1097280" cy="685800"/>
          </a:xfrm>
          <a:prstGeom prst="rect">
            <a:avLst/>
          </a:prstGeom>
          <a:noFill/>
          <a:ln/>
        </p:spPr>
        <p:txBody>
          <a:bodyPr wrap="square" lIns="635" tIns="635" rIns="635" bIns="635"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266</a:t>
            </a:r>
            <a:endParaRPr lang="en-US" sz="2800" dirty="0"/>
          </a:p>
        </p:txBody>
      </p:sp>
      <p:sp>
        <p:nvSpPr>
          <p:cNvPr id="9" name="Text 6"/>
          <p:cNvSpPr txBox="1"/>
          <p:nvPr/>
        </p:nvSpPr>
        <p:spPr>
          <a:xfrm>
            <a:off x="4434840" y="987552"/>
            <a:ext cx="1417320" cy="685800"/>
          </a:xfrm>
          <a:prstGeom prst="rect">
            <a:avLst/>
          </a:prstGeom>
          <a:noFill/>
          <a:ln/>
        </p:spPr>
        <p:txBody>
          <a:bodyPr wrap="square" lIns="635" tIns="635" rIns="635" bIns="635"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templates (split by template)</a:t>
            </a:r>
            <a:endParaRPr lang="en-US" sz="1200" dirty="0"/>
          </a:p>
        </p:txBody>
      </p:sp>
      <p:sp>
        <p:nvSpPr>
          <p:cNvPr id="10" name="Stat3"/>
          <p:cNvSpPr/>
          <p:nvPr/>
        </p:nvSpPr>
        <p:spPr>
          <a:xfrm>
            <a:off x="6035040" y="960120"/>
            <a:ext cx="2651760" cy="777240"/>
          </a:xfrm>
          <a:prstGeom prst="roundRect">
            <a:avLst>
              <a:gd name="adj" fmla="val 9412"/>
            </a:avLst>
          </a:prstGeom>
          <a:solidFill>
            <a:schemeClr val="bg2"/>
          </a:solidFill>
          <a:ln w="12700">
            <a:solidFill>
              <a:schemeClr val="bg2"/>
            </a:solidFill>
            <a:prstDash val="solid"/>
          </a:ln>
        </p:spPr>
      </p:sp>
      <p:sp>
        <p:nvSpPr>
          <p:cNvPr id="11" name="Text 8"/>
          <p:cNvSpPr txBox="1"/>
          <p:nvPr/>
        </p:nvSpPr>
        <p:spPr>
          <a:xfrm>
            <a:off x="6126480" y="987552"/>
            <a:ext cx="1097280" cy="685800"/>
          </a:xfrm>
          <a:prstGeom prst="rect">
            <a:avLst/>
          </a:prstGeom>
          <a:noFill/>
          <a:ln/>
        </p:spPr>
        <p:txBody>
          <a:bodyPr wrap="square" lIns="635" tIns="635" rIns="635" bIns="635"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3,268</a:t>
            </a:r>
            <a:endParaRPr lang="en-US" sz="2800" dirty="0"/>
          </a:p>
        </p:txBody>
      </p:sp>
      <p:sp>
        <p:nvSpPr>
          <p:cNvPr id="12" name="Text 9"/>
          <p:cNvSpPr txBox="1"/>
          <p:nvPr/>
        </p:nvSpPr>
        <p:spPr>
          <a:xfrm>
            <a:off x="7223760" y="987552"/>
            <a:ext cx="1417320" cy="685800"/>
          </a:xfrm>
          <a:prstGeom prst="rect">
            <a:avLst/>
          </a:prstGeom>
          <a:noFill/>
          <a:ln/>
        </p:spPr>
        <p:txBody>
          <a:bodyPr wrap="square" lIns="635" tIns="635" rIns="635" bIns="635"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features, linear model</a:t>
            </a:r>
            <a:endParaRPr lang="en-US" sz="1200" dirty="0"/>
          </a:p>
        </p:txBody>
      </p:sp>
      <p:graphicFrame>
        <p:nvGraphicFramePr>
          <p:cNvPr id="13" name="Chart 0" descr=""/>
          <p:cNvGraphicFramePr/>
          <p:nvPr/>
        </p:nvGraphicFramePr>
        <p:xfrm>
          <a:off x="457200" y="1874520"/>
          <a:ext cx="411480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HeadTable"/>
          <p:cNvGraphicFramePr>
            <a:graphicFrameLocks noGrp="1"/>
          </p:cNvGraphicFramePr>
          <p:nvPr>
            <p:extLst>
              <p:ext uri="{D42A27DB-BD31-4B8C-83A1-F6EECF244321}">
                <p14:modId xmlns:p14="http://schemas.microsoft.com/office/powerpoint/2010/main" val="1579011935"/>
              </p:ext>
            </p:extLst>
          </p:nvPr>
        </p:nvGraphicFramePr>
        <p:xfrm>
          <a:off x="4754880" y="1920240"/>
          <a:ext cx="3931920" cy="914400"/>
        </p:xfrm>
        <a:graphic>
          <a:graphicData uri="http://schemas.openxmlformats.org/drawingml/2006/table">
            <a:tbl>
              <a:tblPr/>
              <a:tblGrid>
                <a:gridCol w="1554480"/>
                <a:gridCol w="1188720"/>
                <a:gridCol w="1188720"/>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Head</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Macro-F1</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r>
              <a:tr h="274320">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Importance</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0.819</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0.787</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r>
              <a:tr h="274320">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Urgency</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0.914</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0.859</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r>
              <a:tr h="274320">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Distraction</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0.868</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0.861</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r>
              <a:tr h="274320">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Action required</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0.819</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dirty="0">
                          <a:solidFill>
                            <a:srgbClr val="1B2A4A"/>
                          </a:solidFill>
                          <a:latin typeface="Calibri" pitchFamily="34" charset="0"/>
                          <a:ea typeface="Calibri" pitchFamily="34" charset="-122"/>
                          <a:cs typeface="Calibri" pitchFamily="34" charset="-120"/>
                        </a:rPr>
                        <a:t>0.804</a:t>
                      </a:r>
                      <a:endParaRPr lang="en-US" sz="11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r>
            </a:tbl>
          </a:graphicData>
        </a:graphic>
      </p:graphicFrame>
      <p:sp>
        <p:nvSpPr>
          <p:cNvPr id="15" name="Text 10"/>
          <p:cNvSpPr txBox="1"/>
          <p:nvPr/>
        </p:nvSpPr>
        <p:spPr>
          <a:xfrm>
            <a:off x="4754880" y="3383280"/>
            <a:ext cx="3931920" cy="685800"/>
          </a:xfrm>
          <a:prstGeom prst="rect">
            <a:avLst/>
          </a:prstGeom>
          <a:noFill/>
          <a:ln/>
        </p:spPr>
        <p:txBody>
          <a:bodyPr wrap="square" lIns="635" tIns="635" rIns="635" bIns="635" rtlCol="0" anchor="t"/>
          <a:lstStyle/>
          <a:p>
            <a:pPr indent="0" marL="0">
              <a:buNone/>
            </a:pPr>
            <a:r>
              <a:rPr lang="en-US" sz="1200" dirty="0">
                <a:solidFill>
                  <a:schemeClr val="tx1"/>
                </a:solidFill>
                <a:latin typeface="Calibri" pitchFamily="34" charset="0"/>
                <a:ea typeface="Calibri" pitchFamily="34" charset="-122"/>
                <a:cs typeface="Calibri" pitchFamily="34" charset="-120"/>
              </a:rPr>
              <a:t>Routing on test split (deployed engine): important held 8.7% (11/127), urgent held 0/139, ambiguous silently held 20% (12/60).</a:t>
            </a:r>
            <a:endParaRPr lang="en-US" sz="1200" dirty="0"/>
          </a:p>
        </p:txBody>
      </p:sp>
      <p:sp>
        <p:nvSpPr>
          <p:cNvPr id="16" name="Text 11"/>
          <p:cNvSpPr txBox="1"/>
          <p:nvPr/>
        </p:nvSpPr>
        <p:spPr>
          <a:xfrm>
            <a:off x="4754880" y="4114800"/>
            <a:ext cx="3931920" cy="457200"/>
          </a:xfrm>
          <a:prstGeom prst="rect">
            <a:avLst/>
          </a:prstGeom>
          <a:noFill/>
          <a:ln/>
        </p:spPr>
        <p:txBody>
          <a:bodyPr wrap="square" lIns="635" tIns="635" rIns="635" bIns="635"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Synthetic data, historical metrics, not re-run. Not real-world accuracy.</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Evaluator feedback and improvements</a:t>
            </a:r>
            <a:endParaRPr lang="en-US" sz="2800" dirty="0"/>
          </a:p>
        </p:txBody>
      </p:sp>
      <p:graphicFrame>
        <p:nvGraphicFramePr>
          <p:cNvPr id="11" name="FeedbackTemplat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926080"/>
                <a:gridCol w="2011680"/>
                <a:gridCol w="2194560"/>
                <a:gridCol w="109728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Original concern (exact wording)</a:t>
                      </a:r>
                      <a:endParaRPr lang="en-US" sz="12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 taken</a:t>
                      </a:r>
                      <a:endParaRPr lang="en-US" sz="12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(file / test)</a:t>
                      </a:r>
                      <a:endParaRPr lang="en-US" sz="12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solidFill>
                      <a:srgbClr val="233E7A"/>
                    </a:solidFill>
                  </a:tcPr>
                </a:tc>
              </a:tr>
              <a:tr h="457200">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 by team]</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[open / done]</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r>
              <a:tr h="457200">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 by team]</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[open / done]</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r>
              <a:tr h="457200">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 by team]</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[open / done]</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r>
              <a:tr h="457200">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 by team]</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[to be completed]</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c>
                  <a:txBody>
                    <a:bodyPr/>
                    <a:lstStyle/>
                    <a:p>
                      <a:pPr indent="0" marL="0">
                        <a:buNone/>
                      </a:pPr>
                      <a:r>
                        <a:rPr lang="en-US" sz="1100" i="1" dirty="0">
                          <a:solidFill>
                            <a:srgbClr val="6B7488"/>
                          </a:solidFill>
                          <a:latin typeface="Calibri" pitchFamily="34" charset="0"/>
                          <a:ea typeface="Calibri" pitchFamily="34" charset="-122"/>
                          <a:cs typeface="Calibri" pitchFamily="34" charset="-120"/>
                        </a:rPr>
                        <a:t>[open / done]</a:t>
                      </a:r>
                      <a:endParaRPr lang="en-US" sz="1100" dirty="0">
                        <a:latin typeface="Calibri" charset="0"/>
                        <a:ea typeface="Calibri" charset="0"/>
                        <a:cs typeface="Calibri" charset="0"/>
                      </a:endParaRPr>
                    </a:p>
                  </a:txBody>
                  <a:tcPr marL="91440" marR="91440" marT="45720" marB="45720" anchor="ctr">
                    <a:lnL w="6350" cap="flat" cmpd="sng" algn="ctr">
                      <a:solidFill>
                        <a:srgbClr val="D5DAE8"/>
                      </a:solidFill>
                      <a:prstDash val="solid"/>
                      <a:round/>
                      <a:headEnd type="none" w="med" len="med"/>
                      <a:tailEnd type="none" w="med" len="med"/>
                    </a:lnL>
                    <a:lnR w="6350" cap="flat" cmpd="sng" algn="ctr">
                      <a:solidFill>
                        <a:srgbClr val="D5DAE8"/>
                      </a:solidFill>
                      <a:prstDash val="solid"/>
                      <a:round/>
                      <a:headEnd type="none" w="med" len="med"/>
                      <a:tailEnd type="none" w="med" len="med"/>
                    </a:lnR>
                    <a:lnT w="6350" cap="flat" cmpd="sng" algn="ctr">
                      <a:solidFill>
                        <a:srgbClr val="D5DAE8"/>
                      </a:solidFill>
                      <a:prstDash val="solid"/>
                      <a:round/>
                      <a:headEnd type="none" w="med" len="med"/>
                      <a:tailEnd type="none" w="med" len="med"/>
                    </a:lnT>
                    <a:lnB w="6350" cap="flat" cmpd="sng" algn="ctr">
                      <a:solidFill>
                        <a:srgbClr val="D5DAE8"/>
                      </a:solidFill>
                      <a:prstDash val="solid"/>
                      <a:round/>
                      <a:headEnd type="none" w="med" len="med"/>
                      <a:tailEnd type="none" w="med" len="med"/>
                    </a:lnB>
                  </a:tcPr>
                </a:tc>
              </a:tr>
            </a:tbl>
          </a:graphicData>
        </a:graphic>
      </p:graphicFrame>
      <p:sp>
        <p:nvSpPr>
          <p:cNvPr id="5" name="FeedbackNote"/>
          <p:cNvSpPr/>
          <p:nvPr/>
        </p:nvSpPr>
        <p:spPr>
          <a:xfrm>
            <a:off x="457200" y="3429000"/>
            <a:ext cx="8229600" cy="1280160"/>
          </a:xfrm>
          <a:prstGeom prst="roundRect">
            <a:avLst>
              <a:gd name="adj" fmla="val 5714"/>
            </a:avLst>
          </a:prstGeom>
          <a:solidFill>
            <a:schemeClr val="bg2"/>
          </a:solidFill>
          <a:ln w="12700">
            <a:solidFill>
              <a:schemeClr val="bg2"/>
            </a:solidFill>
            <a:prstDash val="solid"/>
          </a:ln>
        </p:spPr>
      </p:sp>
      <p:sp>
        <p:nvSpPr>
          <p:cNvPr id="6" name="Text 2"/>
          <p:cNvSpPr txBox="1"/>
          <p:nvPr/>
        </p:nvSpPr>
        <p:spPr>
          <a:xfrm>
            <a:off x="640080" y="3520440"/>
            <a:ext cx="7863840" cy="365760"/>
          </a:xfrm>
          <a:prstGeom prst="rect">
            <a:avLst/>
          </a:prstGeom>
          <a:noFill/>
          <a:ln/>
        </p:spPr>
        <p:txBody>
          <a:bodyPr wrap="square" lIns="635" tIns="635" rIns="635" bIns="635" rtlCol="0" anchor="t"/>
          <a:lstStyle/>
          <a:p>
            <a:pPr indent="0" marL="0">
              <a:buNone/>
            </a:pPr>
            <a:r>
              <a:rPr lang="en-US" sz="1600" b="1" dirty="0">
                <a:solidFill>
                  <a:schemeClr val="accent5"/>
                </a:solidFill>
                <a:latin typeface="Cambria" pitchFamily="34" charset="0"/>
                <a:ea typeface="Cambria" pitchFamily="34" charset="-122"/>
                <a:cs typeface="Cambria" pitchFamily="34" charset="-120"/>
              </a:rPr>
              <a:t>No evaluator feedback was found in the repository.</a:t>
            </a:r>
            <a:endParaRPr lang="en-US" sz="1600" dirty="0"/>
          </a:p>
        </p:txBody>
      </p:sp>
      <p:sp>
        <p:nvSpPr>
          <p:cNvPr id="7" name="Text 3"/>
          <p:cNvSpPr txBox="1"/>
          <p:nvPr/>
        </p:nvSpPr>
        <p:spPr>
          <a:xfrm>
            <a:off x="640080" y="3886200"/>
            <a:ext cx="7863840" cy="777240"/>
          </a:xfrm>
          <a:prstGeom prst="rect">
            <a:avLst/>
          </a:prstGeom>
          <a:noFill/>
          <a:ln/>
        </p:spPr>
        <p:txBody>
          <a:bodyPr wrap="square" lIns="635" tIns="635" rIns="635" bIns="635" rtlCol="0" anchor="t"/>
          <a:lstStyle/>
          <a:p>
            <a:pPr indent="0" marL="0">
              <a:buNone/>
            </a:pPr>
            <a:r>
              <a:rPr lang="en-US" sz="1400" dirty="0">
                <a:solidFill>
                  <a:schemeClr val="tx1"/>
                </a:solidFill>
                <a:latin typeface="Calibri" pitchFamily="34" charset="0"/>
                <a:ea typeface="Calibri" pitchFamily="34" charset="-122"/>
                <a:cs typeface="Calibri" pitchFamily="34" charset="-120"/>
              </a:rPr>
              <a:t>Add the real comments here before presenting. Design changes recorded in the repo (REVIEW fallback, explainable decisions, privacy hardening) are not attributed to any evaluator.</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Testing, limitations and future scope</a:t>
            </a:r>
            <a:endParaRPr lang="en-US" sz="2800" dirty="0"/>
          </a:p>
        </p:txBody>
      </p:sp>
      <p:sp>
        <p:nvSpPr>
          <p:cNvPr id="4" name="Col1"/>
          <p:cNvSpPr/>
          <p:nvPr/>
        </p:nvSpPr>
        <p:spPr>
          <a:xfrm>
            <a:off x="457200" y="1005840"/>
            <a:ext cx="2651760" cy="3566160"/>
          </a:xfrm>
          <a:prstGeom prst="roundRect">
            <a:avLst>
              <a:gd name="adj" fmla="val 2759"/>
            </a:avLst>
          </a:prstGeom>
          <a:solidFill>
            <a:schemeClr val="bg2"/>
          </a:solidFill>
          <a:ln w="12700">
            <a:solidFill>
              <a:schemeClr val="bg2"/>
            </a:solidFill>
            <a:prstDash val="solid"/>
          </a:ln>
        </p:spPr>
      </p:sp>
      <p:sp>
        <p:nvSpPr>
          <p:cNvPr id="5" name="Text 2"/>
          <p:cNvSpPr txBox="1"/>
          <p:nvPr/>
        </p:nvSpPr>
        <p:spPr>
          <a:xfrm>
            <a:off x="594360" y="1078992"/>
            <a:ext cx="2377440" cy="365760"/>
          </a:xfrm>
          <a:prstGeom prst="rect">
            <a:avLst/>
          </a:prstGeom>
          <a:noFill/>
          <a:ln/>
        </p:spPr>
        <p:txBody>
          <a:bodyPr wrap="square" lIns="635" tIns="635" rIns="635" bIns="635"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Test evidence</a:t>
            </a:r>
            <a:endParaRPr lang="en-US" sz="1600" dirty="0"/>
          </a:p>
        </p:txBody>
      </p:sp>
      <p:sp>
        <p:nvSpPr>
          <p:cNvPr id="6" name="Text 3"/>
          <p:cNvSpPr txBox="1"/>
          <p:nvPr/>
        </p:nvSpPr>
        <p:spPr>
          <a:xfrm>
            <a:off x="594360" y="1481328"/>
            <a:ext cx="2423160" cy="3017520"/>
          </a:xfrm>
          <a:prstGeom prst="rect">
            <a:avLst/>
          </a:prstGeom>
          <a:noFill/>
          <a:ln/>
        </p:spPr>
        <p:txBody>
          <a:bodyPr wrap="square" lIns="635" tIns="635" rIns="635" bIns="635"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Unit tests: app 53 pass (stored result)</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Prediction: 98 run, 1 FAILS (re-confirmed today)</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Migration tests: 6 pass (stored result)</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UI / emulator / device tests: none recorded</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Phone suppression: NOT TESTED</a:t>
            </a:r>
            <a:endParaRPr lang="en-US" sz="1400" dirty="0"/>
          </a:p>
        </p:txBody>
      </p:sp>
      <p:sp>
        <p:nvSpPr>
          <p:cNvPr id="7" name="Col2"/>
          <p:cNvSpPr/>
          <p:nvPr/>
        </p:nvSpPr>
        <p:spPr>
          <a:xfrm>
            <a:off x="3246120" y="1005840"/>
            <a:ext cx="2651760" cy="3566160"/>
          </a:xfrm>
          <a:prstGeom prst="roundRect">
            <a:avLst>
              <a:gd name="adj" fmla="val 2759"/>
            </a:avLst>
          </a:prstGeom>
          <a:solidFill>
            <a:schemeClr val="bg2"/>
          </a:solidFill>
          <a:ln w="12700">
            <a:solidFill>
              <a:schemeClr val="bg2"/>
            </a:solidFill>
            <a:prstDash val="solid"/>
          </a:ln>
        </p:spPr>
      </p:sp>
      <p:sp>
        <p:nvSpPr>
          <p:cNvPr id="8" name="Text 5"/>
          <p:cNvSpPr txBox="1"/>
          <p:nvPr/>
        </p:nvSpPr>
        <p:spPr>
          <a:xfrm>
            <a:off x="3383280" y="1078992"/>
            <a:ext cx="2377440" cy="365760"/>
          </a:xfrm>
          <a:prstGeom prst="rect">
            <a:avLst/>
          </a:prstGeom>
          <a:noFill/>
          <a:ln/>
        </p:spPr>
        <p:txBody>
          <a:bodyPr wrap="square" lIns="635" tIns="635" rIns="635" bIns="635" rtlCol="0" anchor="t"/>
          <a:lstStyle/>
          <a:p>
            <a:pPr indent="0" marL="0">
              <a:buNone/>
            </a:pPr>
            <a:r>
              <a:rPr lang="en-US" sz="1600" b="1" dirty="0">
                <a:solidFill>
                  <a:schemeClr val="accent5"/>
                </a:solidFill>
                <a:latin typeface="Cambria" pitchFamily="34" charset="0"/>
                <a:ea typeface="Cambria" pitchFamily="34" charset="-122"/>
                <a:cs typeface="Cambria" pitchFamily="34" charset="-120"/>
              </a:rPr>
              <a:t>Limitations</a:t>
            </a:r>
            <a:endParaRPr lang="en-US" sz="1600" dirty="0"/>
          </a:p>
        </p:txBody>
      </p:sp>
      <p:sp>
        <p:nvSpPr>
          <p:cNvPr id="9" name="Text 6"/>
          <p:cNvSpPr txBox="1"/>
          <p:nvPr/>
        </p:nvSpPr>
        <p:spPr>
          <a:xfrm>
            <a:off x="3383280" y="1481328"/>
            <a:ext cx="2423160" cy="3017520"/>
          </a:xfrm>
          <a:prstGeom prst="rect">
            <a:avLst/>
          </a:prstGeom>
          <a:noFill/>
          <a:ln/>
        </p:spPr>
        <p:txBody>
          <a:bodyPr wrap="square" lIns="635" tIns="635" rIns="635" bIns="635"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Synthetic, template data</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English + Hinglish only</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High-importance recall 0.56</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Alert may show before cancel; best effort</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OEM and Android-version variance</a:t>
            </a:r>
            <a:endParaRPr lang="en-US" sz="1400" dirty="0"/>
          </a:p>
        </p:txBody>
      </p:sp>
      <p:sp>
        <p:nvSpPr>
          <p:cNvPr id="10" name="Col3"/>
          <p:cNvSpPr/>
          <p:nvPr/>
        </p:nvSpPr>
        <p:spPr>
          <a:xfrm>
            <a:off x="6035040" y="1005840"/>
            <a:ext cx="2651760" cy="3566160"/>
          </a:xfrm>
          <a:prstGeom prst="roundRect">
            <a:avLst>
              <a:gd name="adj" fmla="val 2759"/>
            </a:avLst>
          </a:prstGeom>
          <a:solidFill>
            <a:schemeClr val="bg2"/>
          </a:solidFill>
          <a:ln w="12700">
            <a:solidFill>
              <a:schemeClr val="bg2"/>
            </a:solidFill>
            <a:prstDash val="solid"/>
          </a:ln>
        </p:spPr>
      </p:sp>
      <p:sp>
        <p:nvSpPr>
          <p:cNvPr id="11" name="Text 8"/>
          <p:cNvSpPr txBox="1"/>
          <p:nvPr/>
        </p:nvSpPr>
        <p:spPr>
          <a:xfrm>
            <a:off x="6172200" y="1078992"/>
            <a:ext cx="2377440" cy="365760"/>
          </a:xfrm>
          <a:prstGeom prst="rect">
            <a:avLst/>
          </a:prstGeom>
          <a:noFill/>
          <a:ln/>
        </p:spPr>
        <p:txBody>
          <a:bodyPr wrap="square" lIns="635" tIns="635" rIns="635" bIns="635"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Future scope</a:t>
            </a:r>
            <a:endParaRPr lang="en-US" sz="1600" dirty="0"/>
          </a:p>
        </p:txBody>
      </p:sp>
      <p:sp>
        <p:nvSpPr>
          <p:cNvPr id="12" name="Text 9"/>
          <p:cNvSpPr txBox="1"/>
          <p:nvPr/>
        </p:nvSpPr>
        <p:spPr>
          <a:xfrm>
            <a:off x="6172200" y="1481328"/>
            <a:ext cx="2423160" cy="3017520"/>
          </a:xfrm>
          <a:prstGeom prst="rect">
            <a:avLst/>
          </a:prstGeom>
          <a:noFill/>
          <a:ln/>
        </p:spPr>
        <p:txBody>
          <a:bodyPr wrap="square" lIns="635" tIns="635" rIns="635" bIns="635"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Real consented data + retrain</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Compare other model families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Device test matrix</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Optional Do Not Disturb opt-in</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More languages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640080" y="457200"/>
            <a:ext cx="7863840" cy="64008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Conclusion</a:t>
            </a:r>
            <a:endParaRPr lang="en-US" sz="3400" dirty="0"/>
          </a:p>
        </p:txBody>
      </p:sp>
      <p:sp>
        <p:nvSpPr>
          <p:cNvPr id="3" name="Text 1"/>
          <p:cNvSpPr txBox="1"/>
          <p:nvPr/>
        </p:nvSpPr>
        <p:spPr>
          <a:xfrm>
            <a:off x="640080" y="1371600"/>
            <a:ext cx="2011680" cy="365760"/>
          </a:xfrm>
          <a:prstGeom prst="rect">
            <a:avLst/>
          </a:prstGeom>
          <a:noFill/>
          <a:ln/>
        </p:spPr>
        <p:txBody>
          <a:bodyPr wrap="square" lIns="635" tIns="635" rIns="635" bIns="635" rtlCol="0" anchor="t"/>
          <a:lstStyle/>
          <a:p>
            <a:pPr indent="0" marL="0">
              <a:buNone/>
            </a:pPr>
            <a:r>
              <a:rPr lang="en-US" sz="1800" b="1" dirty="0">
                <a:solidFill>
                  <a:srgbClr val="B9C2F2"/>
                </a:solidFill>
                <a:latin typeface="Cambria" pitchFamily="34" charset="0"/>
                <a:ea typeface="Cambria" pitchFamily="34" charset="-122"/>
                <a:cs typeface="Cambria" pitchFamily="34" charset="-120"/>
              </a:rPr>
              <a:t>Achieved</a:t>
            </a:r>
            <a:endParaRPr lang="en-US" sz="1800" dirty="0"/>
          </a:p>
        </p:txBody>
      </p:sp>
      <p:sp>
        <p:nvSpPr>
          <p:cNvPr id="4" name="Text 2"/>
          <p:cNvSpPr txBox="1"/>
          <p:nvPr/>
        </p:nvSpPr>
        <p:spPr>
          <a:xfrm>
            <a:off x="2743200" y="1371600"/>
            <a:ext cx="5760720" cy="1051560"/>
          </a:xfrm>
          <a:prstGeom prst="rect">
            <a:avLst/>
          </a:prstGeom>
          <a:noFill/>
          <a:ln/>
        </p:spPr>
        <p:txBody>
          <a:bodyPr wrap="square" lIns="635" tIns="635" rIns="635" bIns="635" rtlCol="0" anchor="t"/>
          <a:lstStyle/>
          <a:p>
            <a:pPr indent="0" marL="0">
              <a:buNone/>
            </a:pPr>
            <a:r>
              <a:rPr lang="en-US" sz="1600" dirty="0">
                <a:solidFill>
                  <a:srgbClr val="FFFFFF"/>
                </a:solidFill>
                <a:latin typeface="Calibri" pitchFamily="34" charset="0"/>
                <a:ea typeface="Calibri" pitchFamily="34" charset="-122"/>
                <a:cs typeface="Calibri" pitchFamily="34" charset="-120"/>
              </a:rPr>
              <a:t>A working design: listener, on-device classifier, safety rules, REVIEW fallback, Room queue, explanations, feedback and a privacy-first data model, all in code with unit tests.</a:t>
            </a:r>
            <a:endParaRPr lang="en-US" sz="1600" dirty="0"/>
          </a:p>
        </p:txBody>
      </p:sp>
      <p:sp>
        <p:nvSpPr>
          <p:cNvPr id="5" name="Text 3"/>
          <p:cNvSpPr txBox="1"/>
          <p:nvPr/>
        </p:nvSpPr>
        <p:spPr>
          <a:xfrm>
            <a:off x="640080" y="2468880"/>
            <a:ext cx="2011680" cy="365760"/>
          </a:xfrm>
          <a:prstGeom prst="rect">
            <a:avLst/>
          </a:prstGeom>
          <a:noFill/>
          <a:ln/>
        </p:spPr>
        <p:txBody>
          <a:bodyPr wrap="square" lIns="635" tIns="635" rIns="635" bIns="635" rtlCol="0" anchor="t"/>
          <a:lstStyle/>
          <a:p>
            <a:pPr indent="0" marL="0">
              <a:buNone/>
            </a:pPr>
            <a:r>
              <a:rPr lang="en-US" sz="1800" b="1" dirty="0">
                <a:solidFill>
                  <a:srgbClr val="B9C2F2"/>
                </a:solidFill>
                <a:latin typeface="Cambria" pitchFamily="34" charset="0"/>
                <a:ea typeface="Cambria" pitchFamily="34" charset="-122"/>
                <a:cs typeface="Cambria" pitchFamily="34" charset="-120"/>
              </a:rPr>
              <a:t>Honest status</a:t>
            </a:r>
            <a:endParaRPr lang="en-US" sz="1800" dirty="0"/>
          </a:p>
        </p:txBody>
      </p:sp>
      <p:sp>
        <p:nvSpPr>
          <p:cNvPr id="6" name="Text 4"/>
          <p:cNvSpPr txBox="1"/>
          <p:nvPr/>
        </p:nvSpPr>
        <p:spPr>
          <a:xfrm>
            <a:off x="2743200" y="2468880"/>
            <a:ext cx="5760720" cy="1051560"/>
          </a:xfrm>
          <a:prstGeom prst="rect">
            <a:avLst/>
          </a:prstGeom>
          <a:noFill/>
          <a:ln/>
        </p:spPr>
        <p:txBody>
          <a:bodyPr wrap="square" lIns="635" tIns="635" rIns="635" bIns="635" rtlCol="0" anchor="t"/>
          <a:lstStyle/>
          <a:p>
            <a:pPr indent="0" marL="0">
              <a:buNone/>
            </a:pPr>
            <a:r>
              <a:rPr lang="en-US" sz="1600" dirty="0">
                <a:solidFill>
                  <a:srgbClr val="FFFFFF"/>
                </a:solidFill>
                <a:latin typeface="Calibri" pitchFamily="34" charset="0"/>
                <a:ea typeface="Calibri" pitchFamily="34" charset="-122"/>
                <a:cs typeface="Calibri" pitchFamily="34" charset="-120"/>
              </a:rPr>
              <a:t>Trained on synthetic data. Not proven on a phone. One known failing unit test.</a:t>
            </a:r>
            <a:endParaRPr lang="en-US" sz="1600" dirty="0"/>
          </a:p>
        </p:txBody>
      </p:sp>
      <p:sp>
        <p:nvSpPr>
          <p:cNvPr id="7" name="Text 5"/>
          <p:cNvSpPr txBox="1"/>
          <p:nvPr/>
        </p:nvSpPr>
        <p:spPr>
          <a:xfrm>
            <a:off x="640080" y="3566160"/>
            <a:ext cx="2011680" cy="365760"/>
          </a:xfrm>
          <a:prstGeom prst="rect">
            <a:avLst/>
          </a:prstGeom>
          <a:noFill/>
          <a:ln/>
        </p:spPr>
        <p:txBody>
          <a:bodyPr wrap="square" lIns="635" tIns="635" rIns="635" bIns="635" rtlCol="0" anchor="t"/>
          <a:lstStyle/>
          <a:p>
            <a:pPr indent="0" marL="0">
              <a:buNone/>
            </a:pPr>
            <a:r>
              <a:rPr lang="en-US" sz="1800" b="1" dirty="0">
                <a:solidFill>
                  <a:srgbClr val="B9C2F2"/>
                </a:solidFill>
                <a:latin typeface="Cambria" pitchFamily="34" charset="0"/>
                <a:ea typeface="Cambria" pitchFamily="34" charset="-122"/>
                <a:cs typeface="Cambria" pitchFamily="34" charset="-120"/>
              </a:rPr>
              <a:t>Next steps</a:t>
            </a:r>
            <a:endParaRPr lang="en-US" sz="1800" dirty="0"/>
          </a:p>
        </p:txBody>
      </p:sp>
      <p:sp>
        <p:nvSpPr>
          <p:cNvPr id="8" name="Text 6"/>
          <p:cNvSpPr txBox="1"/>
          <p:nvPr/>
        </p:nvSpPr>
        <p:spPr>
          <a:xfrm>
            <a:off x="2743200" y="3566160"/>
            <a:ext cx="5760720" cy="1051560"/>
          </a:xfrm>
          <a:prstGeom prst="rect">
            <a:avLst/>
          </a:prstGeom>
          <a:noFill/>
          <a:ln/>
        </p:spPr>
        <p:txBody>
          <a:bodyPr wrap="square" lIns="635" tIns="635" rIns="635" bIns="635" rtlCol="0" anchor="t"/>
          <a:lstStyle/>
          <a:p>
            <a:pPr indent="0" marL="0">
              <a:buNone/>
            </a:pPr>
            <a:r>
              <a:rPr lang="en-US" sz="1600" dirty="0">
                <a:solidFill>
                  <a:srgbClr val="FFFFFF"/>
                </a:solidFill>
                <a:latin typeface="Calibri" pitchFamily="34" charset="0"/>
                <a:ea typeface="Calibri" pitchFamily="34" charset="-122"/>
                <a:cs typeface="Calibri" pitchFamily="34" charset="-120"/>
              </a:rPr>
              <a:t>Fix the failing test, run the device checklist, collect consented real data, then retrain and compare.</a:t>
            </a:r>
            <a:endParaRPr lang="en-US" sz="1600" dirty="0"/>
          </a:p>
        </p:txBody>
      </p:sp>
    </p:spTree>
  </p:cSld>
  <p:clrMapOvr>
    <a:masterClrMapping/>
  </p:clrMapOvr>
</p:sld>
</file>

<file path=ppt/theme/theme1.xml><?xml version="1.0" encoding="utf-8"?>
<a:theme xmlns:a="http://schemas.openxmlformats.org/drawingml/2006/main" name="Attune">
  <a:themeElements>
    <a:clrScheme name="Attune">
      <a:dk1>
        <a:srgbClr val="1B2A4A"/>
      </a:dk1>
      <a:lt1>
        <a:srgbClr val="FFFFFF"/>
      </a:lt1>
      <a:dk2>
        <a:srgbClr val="2B3F6B"/>
      </a:dk2>
      <a:lt2>
        <a:srgbClr val="F3F5FA"/>
      </a:lt2>
      <a:accent1>
        <a:srgbClr val="233E7A"/>
      </a:accent1>
      <a:accent2>
        <a:srgbClr val="6B5FC7"/>
      </a:accent2>
      <a:accent3>
        <a:srgbClr val="1A9C94"/>
      </a:accent3>
      <a:accent4>
        <a:srgbClr val="B7791F"/>
      </a:accent4>
      <a:accent5>
        <a:srgbClr val="B5483E"/>
      </a:accent5>
      <a:accent6>
        <a:srgbClr val="6B7488"/>
      </a:accent6>
      <a:hlink>
        <a:srgbClr val="233E7A"/>
      </a:hlink>
      <a:folHlink>
        <a:srgbClr val="6B5FC7"/>
      </a:folHlink>
    </a:clrScheme>
    <a:fontScheme name="Attu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Attune: Find Your Focus Rhythm</dc:title>
  <dc:subject>PptxGenJS Presentation</dc:subject>
  <dc:creator>Attune project team</dc:creator>
  <cp:lastModifiedBy>Attune project team</cp:lastModifiedBy>
  <cp:revision>1</cp:revision>
  <dcterms:created xsi:type="dcterms:W3CDTF">2026-10-26T05:58:55Z</dcterms:created>
  <dcterms:modified xsi:type="dcterms:W3CDTF">2026-10-26T05:58:55Z</dcterms:modified>
</cp:coreProperties>
</file>